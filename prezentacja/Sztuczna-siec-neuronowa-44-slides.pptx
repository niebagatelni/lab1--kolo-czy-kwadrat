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embeddedFontLst>
    <p:embeddedFont>
      <p:font typeface="Arimo"/>
      <p:regular r:id="rId201314"/>
    </p:embeddedFont>
    <p:embeddedFont>
      <p:font typeface="Arimo Bold"/>
      <p:regular r:id="rId201315"/>
    </p:embeddedFont>
    <p:embeddedFont>
      <p:font typeface="Outfit Extra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Podsumuj wszystkie omówione dotychczas etapy w jednym spójnym przykładzie, aby pokazać, jak teoria łączy się z praktyką.
Użyj prostego i zrozumiałego przykładu, np. rozpoznawania obrazów, co jest intuicyjne dla większości ludzi.
Każdy punkt listy powinien krótko nawiązywać do wcześniej wprowadzonych pojęć (piksele, wagi, biasy, funkcja aktywacji, strata, gradienty, optymalizator, generalizacja).
Wzmocnij ideę, że każdy krok jest integralną częścią większego, złożonego procesu, który finalnie prowadzi do "uczenia się" maszyny.
To jest swego rodzaju "Wielki Finał" sekcji wprowadzającej, zanim przejdziemy do dalszych, bardziej zaawansowanych zagadnień.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 karta ma być wizualnym podsumowaniem całego procesu, który został omówiony w prezentacji.
Użyj wizualizacji przepływu, aby wzmocnić ideę sekwencji i wzajemnych powiązań.
Podkreśl, że jest to kompletny cykl od surowych danych do inteligentnej decyzji.
Każdy punkt powinien krótko przypominać kluczowe pojęcie i jego rolę w procesie.
To ostatnie podsumowanie przed przejściem do bardziej zaawansowanych aplikacji lub wniosków.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Wprowadź rozróżnienie między klasyfikacją a regresją, dwoma podstawowymi typami zadań uczenia maszynowego.
Podkreśl, że do tej pory skupialiśmy się na klasyfikacji (rozpoznawanie kota/psa).
Wyjaśnij, że regresja przewiduje wartości liczbowe (ilościowe), a klasyfikacja przypisuje do kategorii (jakościowe).
Użyj prostych, zrozumiałych przykładów dla obu typów zadań.
Zaznacz, że fundamentalna struktura sieci pozostaje podobna, a główne różnice leżą w warstwie wyjściowej i funkcji straty.
To ważny moment na podsumowanie wszechstronności sieci neuronowych.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Podkreśl, że choć sieci są zaawansowane, nie są magicznym rozwiązaniem na wszystko.
Każde ograniczenie ma praktyczne implikacje, zwłaszcza w zastosowaniach biznesowych i krytycznych.
Wyjaśnij, że "czarna skrzynka" oznacza brak transparentności w procesie decyzyjnym, co jest problemem w dziedzinach wymagających zaufania i audytowalności.
Pewność sieci jest statystyczna, nie intuicyjna — maszyna nie "rozumie" błędu tak jak człowiek.
Przejście do kolejnego tematu przygotowuje grunt pod dalsze wyjaśnienie funkcji wyjściowej, której wartości były wspomniane w tym slajdzie.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Celem tej karty jest wyjaśnienie koncepcji mini-batch i jej znaczenia w procesie treningu sieci neuronowych.
Rozpocznij od analogii z podręcznikiem, aby uczynić abstrakcyjny koncept bardziej przystępnym.
Następnie przejdź do technicznego wyjaśnienia, dlaczego nie trenujemy na całym zbiorze naraz (pamięć) ani na pojedynczych przykładach (niestabilność).
Wyjaśnij, co to jest "porcja" (np. 32 lub 64 przykłady) i jak wiąże się to z pojęciem "epoki".
Podkreśl, że mini-batch to optymalny kompromis między szybkością a stabilnością uczenia.
Zakończ krótkim wnioskiem, który podsumowuje korzyści z tej metody.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Wyjaśnij kluczową różnicę między etapem treningu a inferencją.
Podkreśl, że po zakończeniu treningu, wagi i biasy są zablokowane i nie zmieniają się.
Zaprezentuj konkretne przykłady zastosowań wytrenowanych modeli, aby pokazać ich obecność w codziennym życiu.
Zaznacz dysproporcję w kosztach i zasobach między treningiem a używaniem modelu, co jest kluczowe dla jego komercyjnego wykorzystania.
Wniosek jest mocny: trening to inwestycja, która procentuje skalowalnym i szybkim użyciem.
To wprowadzenie do kolejnego etapu, który pokaże różnorodność architektur sieci.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Wprowadź koncepcję, że nie ma jednej "sieci neuronowej", ale wiele wyspecjalizowanych architektur.
Przedstaw krótko cztery kluczowe typy architektur, skupiając się na ich głównym zastosowaniu lub charakterystycznej cesze.
MLP: jako "fundament"
CNN: obrazy
RNN/LSTM: sekwencje, pamięć
Transformery: NLP, uwaga
Podkreśl, że wybór architektury zależy od rodzaju danych i problemu do rozwiązania.
Zakończ stwierdzeniem o wszechstronności sieci neuronowych dzięki tej różnorodności.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Celem tej karty jest podsumowanie i rozszerzenie informacji o typach sieci neuronowych, podkreślając ich specyficzne zastosowania.
Zacznij od przypomnienia o MLP jako punkcie wyjścia, który był głównym tematem dotychczasowej prezentacji.
Dla każdego typu sieci (CNN, RNN, Transformer) podaj krótką definicję i przykłady zastosowań, jak w tekście wejściowym.
Użyj innej wizualizacji niż na poprzednim slajdzie, aby utrzymać różnorodność i świeżość prezentacji.
Zakończ mocnym wnioskiem, że wybór architektury jest kluczowy i zależy od problemu.
Pamiętaj, aby podkreślić, że MLP jest "podstawą", ale rzadko "najlepszym" rozwiązaniem dla złożonych danych.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image" Target="../media/image-4-9.png"/><Relationship Id="rId14" Type="http://schemas.openxmlformats.org/officeDocument/2006/relationships/image" Target="../media/image-4-10.svg"/><Relationship Id="rId15" Type="http://schemas.openxmlformats.org/officeDocument/2006/relationships/image" Target="../media/image-4-15.png"/><Relationship Id="rId16" Type="http://schemas.openxmlformats.org/officeDocument/2006/relationships/image" Target="../media/image-4-16.svg"/><Relationship Id="rId17" Type="http://schemas.openxmlformats.org/officeDocument/2006/relationships/slideLayout" Target="../slideLayouts/slideLayout2.xml"/><Relationship Id="rId1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2.png"/><Relationship Id="rId5" Type="http://schemas.openxmlformats.org/officeDocument/2006/relationships/image" Target="../media/image-5-3.svg"/><Relationship Id="rId6" Type="http://schemas.openxmlformats.org/officeDocument/2006/relationships/image" Target="../media/image-5-2.png"/><Relationship Id="rId7" Type="http://schemas.openxmlformats.org/officeDocument/2006/relationships/image" Target="../media/image-5-3.sv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2.png"/><Relationship Id="rId7" Type="http://schemas.openxmlformats.org/officeDocument/2006/relationships/image" Target="../media/image-7-3.svg"/><Relationship Id="rId8" Type="http://schemas.openxmlformats.org/officeDocument/2006/relationships/image" Target="../media/image-7-8.png"/><Relationship Id="rId9" Type="http://schemas.openxmlformats.org/officeDocument/2006/relationships/image" Target="../media/image-7-9.svg"/><Relationship Id="rId10" Type="http://schemas.openxmlformats.org/officeDocument/2006/relationships/image" Target="../media/image-7-2.png"/><Relationship Id="rId11" Type="http://schemas.openxmlformats.org/officeDocument/2006/relationships/image" Target="../media/image-7-3.svg"/><Relationship Id="rId12" Type="http://schemas.openxmlformats.org/officeDocument/2006/relationships/image" Target="../media/image-7-12.png"/><Relationship Id="rId13" Type="http://schemas.openxmlformats.org/officeDocument/2006/relationships/image" Target="../media/image-7-13.svg"/><Relationship Id="rId14" Type="http://schemas.openxmlformats.org/officeDocument/2006/relationships/image" Target="../media/image-7-2.png"/><Relationship Id="rId15" Type="http://schemas.openxmlformats.org/officeDocument/2006/relationships/image" Target="../media/image-7-3.svg"/><Relationship Id="rId16" Type="http://schemas.openxmlformats.org/officeDocument/2006/relationships/image" Target="../media/image-7-16.png"/><Relationship Id="rId17" Type="http://schemas.openxmlformats.org/officeDocument/2006/relationships/image" Target="../media/image-7-17.svg"/><Relationship Id="rId18" Type="http://schemas.openxmlformats.org/officeDocument/2006/relationships/slideLayout" Target="../slideLayouts/slideLayout2.xml"/><Relationship Id="rId1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628195"/>
            <a:ext cx="10868745" cy="476448"/>
          </a:xfrm>
          <a:prstGeom prst="rect">
            <a:avLst/>
          </a:prstGeom>
          <a:noFill/>
          <a:ln/>
        </p:spPr>
        <p:txBody>
          <a:bodyPr wrap="none" lIns="0" tIns="0" rIns="0" bIns="0" rtlCol="0" anchor="t"/>
          <a:lstStyle/>
          <a:p>
            <a:pPr algn="l" indent="0" marL="0">
              <a:lnSpc>
                <a:spcPct val="104000"/>
              </a:lnSpc>
              <a:buNone/>
            </a:pPr>
            <a:r>
              <a:rPr lang="en-US" sz="3000" dirty="0">
                <a:solidFill>
                  <a:srgbClr val="231971"/>
                </a:solidFill>
                <a:latin typeface="Outfit ExtraBold" pitchFamily="34" charset="0"/>
                <a:ea typeface="Outfit ExtraBold" pitchFamily="34" charset="-122"/>
                <a:cs typeface="Outfit ExtraBold" pitchFamily="34" charset="-120"/>
              </a:rPr>
              <a:t>Sztuczna sieć neuronowa — cały proces od początku do końca</a:t>
            </a:r>
            <a:endParaRPr lang="en-US" sz="3000" dirty="0"/>
          </a:p>
        </p:txBody>
      </p:sp>
      <p:sp>
        <p:nvSpPr>
          <p:cNvPr id="3" name="Text 1"/>
          <p:cNvSpPr/>
          <p:nvPr/>
        </p:nvSpPr>
        <p:spPr>
          <a:xfrm>
            <a:off x="661475" y="1365151"/>
            <a:ext cx="11478330" cy="234454"/>
          </a:xfrm>
          <a:prstGeom prst="rect">
            <a:avLst/>
          </a:prstGeom>
          <a:noFill/>
          <a:ln/>
        </p:spPr>
        <p:txBody>
          <a:bodyPr wrap="none" lIns="0" tIns="0" rIns="0" bIns="0" rtlCol="0" anchor="t"/>
          <a:lstStyle/>
          <a:p>
            <a:pPr algn="l" indent="0" marL="0">
              <a:lnSpc>
                <a:spcPct val="128000"/>
              </a:lnSpc>
              <a:buNone/>
            </a:pPr>
            <a:r>
              <a:rPr lang="en-US" sz="1200" dirty="0">
                <a:solidFill>
                  <a:srgbClr val="2A2742"/>
                </a:solidFill>
                <a:latin typeface="Arimo" pitchFamily="34" charset="0"/>
                <a:ea typeface="Arimo" pitchFamily="34" charset="-122"/>
                <a:cs typeface="Arimo" pitchFamily="34" charset="-120"/>
              </a:rPr>
              <a:t>Cel: połączyć wszystkie elementy prezentacji w jeden spójny przykład. Przykład: rozpoznawanie kota na zdjęciu</a:t>
            </a:r>
            <a:endParaRPr lang="en-US" sz="1200" dirty="0"/>
          </a:p>
        </p:txBody>
      </p:sp>
      <p:sp>
        <p:nvSpPr>
          <p:cNvPr id="4" name="Shape 2"/>
          <p:cNvSpPr/>
          <p:nvPr/>
        </p:nvSpPr>
        <p:spPr>
          <a:xfrm>
            <a:off x="6086323" y="1757660"/>
            <a:ext cx="19050" cy="4492724"/>
          </a:xfrm>
          <a:prstGeom prst="roundRect">
            <a:avLst>
              <a:gd name="adj" fmla="val 49999"/>
            </a:avLst>
          </a:prstGeom>
          <a:solidFill>
            <a:srgbClr val="BDB8DF"/>
          </a:solidFill>
          <a:ln/>
        </p:spPr>
      </p:sp>
      <p:sp>
        <p:nvSpPr>
          <p:cNvPr id="5" name="Shape 3"/>
          <p:cNvSpPr/>
          <p:nvPr/>
        </p:nvSpPr>
        <p:spPr>
          <a:xfrm>
            <a:off x="5486015" y="1919585"/>
            <a:ext cx="457387" cy="19050"/>
          </a:xfrm>
          <a:prstGeom prst="roundRect">
            <a:avLst>
              <a:gd name="adj" fmla="val 49999"/>
            </a:avLst>
          </a:prstGeom>
          <a:solidFill>
            <a:srgbClr val="BDB8DF"/>
          </a:solidFill>
          <a:ln/>
        </p:spPr>
      </p:sp>
      <p:sp>
        <p:nvSpPr>
          <p:cNvPr id="6" name="Shape 4"/>
          <p:cNvSpPr/>
          <p:nvPr/>
        </p:nvSpPr>
        <p:spPr>
          <a:xfrm>
            <a:off x="5924352" y="1757660"/>
            <a:ext cx="342991" cy="342999"/>
          </a:xfrm>
          <a:prstGeom prst="roundRect">
            <a:avLst>
              <a:gd name="adj" fmla="val 18670"/>
            </a:avLst>
          </a:prstGeom>
          <a:solidFill>
            <a:srgbClr val="E9E6FA"/>
          </a:solidFill>
          <a:ln w="6350">
            <a:solidFill>
              <a:srgbClr val="BDB8DF"/>
            </a:solidFill>
            <a:prstDash val="solid"/>
          </a:ln>
        </p:spPr>
      </p:sp>
      <p:pic>
        <p:nvPicPr>
          <p:cNvPr id="7" name="Image 0" descr="preencoded.png">    </p:cNvPr>
          <p:cNvPicPr>
            <a:picLocks noChangeAspect="1"/>
          </p:cNvPicPr>
          <p:nvPr/>
        </p:nvPicPr>
        <p:blipFill>
          <a:blip r:embed="rId1"/>
          <a:stretch>
            <a:fillRect/>
          </a:stretch>
        </p:blipFill>
        <p:spPr>
          <a:xfrm>
            <a:off x="5981451" y="1814761"/>
            <a:ext cx="228693" cy="228699"/>
          </a:xfrm>
          <a:prstGeom prst="rect">
            <a:avLst/>
          </a:prstGeom>
        </p:spPr>
      </p:pic>
      <p:sp>
        <p:nvSpPr>
          <p:cNvPr id="8" name="Text 5"/>
          <p:cNvSpPr/>
          <p:nvPr/>
        </p:nvSpPr>
        <p:spPr>
          <a:xfrm>
            <a:off x="661475" y="1810048"/>
            <a:ext cx="4672094" cy="238224"/>
          </a:xfrm>
          <a:prstGeom prst="rect">
            <a:avLst/>
          </a:prstGeom>
          <a:noFill/>
          <a:ln/>
        </p:spPr>
        <p:txBody>
          <a:bodyPr wrap="none" lIns="0" tIns="0" rIns="0" bIns="0" rtlCol="0" anchor="t"/>
          <a:lstStyle/>
          <a:p>
            <a:pPr algn="r"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Wejście</a:t>
            </a:r>
            <a:endParaRPr lang="en-US" sz="1500" dirty="0"/>
          </a:p>
        </p:txBody>
      </p:sp>
      <p:sp>
        <p:nvSpPr>
          <p:cNvPr id="9" name="Text 6"/>
          <p:cNvSpPr/>
          <p:nvPr/>
        </p:nvSpPr>
        <p:spPr>
          <a:xfrm>
            <a:off x="661475" y="2132608"/>
            <a:ext cx="4672094" cy="234454"/>
          </a:xfrm>
          <a:prstGeom prst="rect">
            <a:avLst/>
          </a:prstGeom>
          <a:noFill/>
          <a:ln/>
        </p:spPr>
        <p:txBody>
          <a:bodyPr wrap="none" lIns="0" tIns="0" rIns="0" bIns="0" rtlCol="0" anchor="t"/>
          <a:lstStyle/>
          <a:p>
            <a:pPr algn="r" indent="0" marL="0">
              <a:lnSpc>
                <a:spcPct val="128000"/>
              </a:lnSpc>
              <a:buNone/>
            </a:pPr>
            <a:r>
              <a:rPr lang="en-US" sz="1200" dirty="0">
                <a:solidFill>
                  <a:srgbClr val="2A2742"/>
                </a:solidFill>
                <a:latin typeface="Arimo" pitchFamily="34" charset="0"/>
                <a:ea typeface="Arimo" pitchFamily="34" charset="-122"/>
                <a:cs typeface="Arimo" pitchFamily="34" charset="-120"/>
              </a:rPr>
              <a:t>Zdjęcie zamienia się w wartości liczbowe — piksele RGB.</a:t>
            </a:r>
            <a:endParaRPr lang="en-US" sz="1200" dirty="0"/>
          </a:p>
        </p:txBody>
      </p:sp>
      <p:sp>
        <p:nvSpPr>
          <p:cNvPr id="10" name="Shape 7"/>
          <p:cNvSpPr/>
          <p:nvPr/>
        </p:nvSpPr>
        <p:spPr>
          <a:xfrm>
            <a:off x="6248293" y="2810470"/>
            <a:ext cx="457387" cy="19050"/>
          </a:xfrm>
          <a:prstGeom prst="roundRect">
            <a:avLst>
              <a:gd name="adj" fmla="val 49999"/>
            </a:avLst>
          </a:prstGeom>
          <a:solidFill>
            <a:srgbClr val="BDB8DF"/>
          </a:solidFill>
          <a:ln/>
        </p:spPr>
      </p:sp>
      <p:sp>
        <p:nvSpPr>
          <p:cNvPr id="11" name="Shape 8"/>
          <p:cNvSpPr/>
          <p:nvPr/>
        </p:nvSpPr>
        <p:spPr>
          <a:xfrm>
            <a:off x="5924352" y="2648545"/>
            <a:ext cx="342991" cy="342999"/>
          </a:xfrm>
          <a:prstGeom prst="roundRect">
            <a:avLst>
              <a:gd name="adj" fmla="val 18670"/>
            </a:avLst>
          </a:prstGeom>
          <a:solidFill>
            <a:srgbClr val="E9E6FA"/>
          </a:solidFill>
          <a:ln w="6350">
            <a:solidFill>
              <a:srgbClr val="BDB8DF"/>
            </a:solidFill>
            <a:prstDash val="solid"/>
          </a:ln>
        </p:spPr>
      </p:sp>
      <p:pic>
        <p:nvPicPr>
          <p:cNvPr id="12" name="Image 1" descr="preencoded.png">    </p:cNvPr>
          <p:cNvPicPr>
            <a:picLocks noChangeAspect="1"/>
          </p:cNvPicPr>
          <p:nvPr/>
        </p:nvPicPr>
        <p:blipFill>
          <a:blip r:embed="rId2"/>
          <a:stretch>
            <a:fillRect/>
          </a:stretch>
        </p:blipFill>
        <p:spPr>
          <a:xfrm>
            <a:off x="5981451" y="2705646"/>
            <a:ext cx="228693" cy="228699"/>
          </a:xfrm>
          <a:prstGeom prst="rect">
            <a:avLst/>
          </a:prstGeom>
        </p:spPr>
      </p:pic>
      <p:sp>
        <p:nvSpPr>
          <p:cNvPr id="13" name="Text 9"/>
          <p:cNvSpPr/>
          <p:nvPr/>
        </p:nvSpPr>
        <p:spPr>
          <a:xfrm>
            <a:off x="6858126" y="2700933"/>
            <a:ext cx="4672094" cy="238224"/>
          </a:xfrm>
          <a:prstGeom prst="rect">
            <a:avLst/>
          </a:prstGeom>
          <a:noFill/>
          <a:ln/>
        </p:spPr>
        <p:txBody>
          <a:bodyPr wrap="none" lIns="0" tIns="0" rIns="0" bIns="0" rtlCol="0" anchor="t"/>
          <a:lstStyle/>
          <a:p>
            <a:pPr algn="l"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Przetwarzanie</a:t>
            </a:r>
            <a:endParaRPr lang="en-US" sz="1500" dirty="0"/>
          </a:p>
        </p:txBody>
      </p:sp>
      <p:sp>
        <p:nvSpPr>
          <p:cNvPr id="14" name="Text 10"/>
          <p:cNvSpPr/>
          <p:nvPr/>
        </p:nvSpPr>
        <p:spPr>
          <a:xfrm>
            <a:off x="6858126" y="3023493"/>
            <a:ext cx="4672094" cy="234454"/>
          </a:xfrm>
          <a:prstGeom prst="rect">
            <a:avLst/>
          </a:prstGeom>
          <a:noFill/>
          <a:ln/>
        </p:spPr>
        <p:txBody>
          <a:bodyPr wrap="none" lIns="0" tIns="0" rIns="0" bIns="0" rtlCol="0" anchor="t"/>
          <a:lstStyle/>
          <a:p>
            <a:pPr algn="l" indent="0" marL="0">
              <a:lnSpc>
                <a:spcPct val="128000"/>
              </a:lnSpc>
              <a:buNone/>
            </a:pPr>
            <a:r>
              <a:rPr lang="en-US" sz="1200" dirty="0">
                <a:solidFill>
                  <a:srgbClr val="2A2742"/>
                </a:solidFill>
                <a:latin typeface="Arimo" pitchFamily="34" charset="0"/>
                <a:ea typeface="Arimo" pitchFamily="34" charset="-122"/>
                <a:cs typeface="Arimo" pitchFamily="34" charset="-120"/>
              </a:rPr>
              <a:t>Warstwy mnożą wejścia przez wagi, dodają bias i stosują aktywację.</a:t>
            </a:r>
            <a:endParaRPr lang="en-US" sz="1200" dirty="0"/>
          </a:p>
        </p:txBody>
      </p:sp>
      <p:sp>
        <p:nvSpPr>
          <p:cNvPr id="15" name="Shape 11"/>
          <p:cNvSpPr/>
          <p:nvPr/>
        </p:nvSpPr>
        <p:spPr>
          <a:xfrm>
            <a:off x="5486015" y="3587055"/>
            <a:ext cx="457387" cy="19050"/>
          </a:xfrm>
          <a:prstGeom prst="roundRect">
            <a:avLst>
              <a:gd name="adj" fmla="val 49999"/>
            </a:avLst>
          </a:prstGeom>
          <a:solidFill>
            <a:srgbClr val="BDB8DF"/>
          </a:solidFill>
          <a:ln/>
        </p:spPr>
      </p:sp>
      <p:sp>
        <p:nvSpPr>
          <p:cNvPr id="16" name="Shape 12"/>
          <p:cNvSpPr/>
          <p:nvPr/>
        </p:nvSpPr>
        <p:spPr>
          <a:xfrm>
            <a:off x="5924352" y="3425130"/>
            <a:ext cx="342991" cy="342999"/>
          </a:xfrm>
          <a:prstGeom prst="roundRect">
            <a:avLst>
              <a:gd name="adj" fmla="val 18670"/>
            </a:avLst>
          </a:prstGeom>
          <a:solidFill>
            <a:srgbClr val="E9E6FA"/>
          </a:solidFill>
          <a:ln w="6350">
            <a:solidFill>
              <a:srgbClr val="BDB8DF"/>
            </a:solidFill>
            <a:prstDash val="solid"/>
          </a:ln>
        </p:spPr>
      </p:sp>
      <p:pic>
        <p:nvPicPr>
          <p:cNvPr id="17" name="Image 2" descr="preencoded.png">    </p:cNvPr>
          <p:cNvPicPr>
            <a:picLocks noChangeAspect="1"/>
          </p:cNvPicPr>
          <p:nvPr/>
        </p:nvPicPr>
        <p:blipFill>
          <a:blip r:embed="rId3"/>
          <a:stretch>
            <a:fillRect/>
          </a:stretch>
        </p:blipFill>
        <p:spPr>
          <a:xfrm>
            <a:off x="5981451" y="3482231"/>
            <a:ext cx="228693" cy="228699"/>
          </a:xfrm>
          <a:prstGeom prst="rect">
            <a:avLst/>
          </a:prstGeom>
        </p:spPr>
      </p:pic>
      <p:sp>
        <p:nvSpPr>
          <p:cNvPr id="18" name="Text 13"/>
          <p:cNvSpPr/>
          <p:nvPr/>
        </p:nvSpPr>
        <p:spPr>
          <a:xfrm>
            <a:off x="661475" y="3477518"/>
            <a:ext cx="4672094" cy="238224"/>
          </a:xfrm>
          <a:prstGeom prst="rect">
            <a:avLst/>
          </a:prstGeom>
          <a:noFill/>
          <a:ln/>
        </p:spPr>
        <p:txBody>
          <a:bodyPr wrap="none" lIns="0" tIns="0" rIns="0" bIns="0" rtlCol="0" anchor="t"/>
          <a:lstStyle/>
          <a:p>
            <a:pPr algn="r"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Wynik</a:t>
            </a:r>
            <a:endParaRPr lang="en-US" sz="1500" dirty="0"/>
          </a:p>
        </p:txBody>
      </p:sp>
      <p:sp>
        <p:nvSpPr>
          <p:cNvPr id="19" name="Text 14"/>
          <p:cNvSpPr/>
          <p:nvPr/>
        </p:nvSpPr>
        <p:spPr>
          <a:xfrm>
            <a:off x="661475" y="3800078"/>
            <a:ext cx="4672094" cy="468908"/>
          </a:xfrm>
          <a:prstGeom prst="rect">
            <a:avLst/>
          </a:prstGeom>
          <a:noFill/>
          <a:ln/>
        </p:spPr>
        <p:txBody>
          <a:bodyPr wrap="square" lIns="0" tIns="0" rIns="0" bIns="0" rtlCol="0" anchor="t">
            <a:normAutofit/>
          </a:bodyPr>
          <a:lstStyle/>
          <a:p>
            <a:pPr algn="r" indent="0" marL="0">
              <a:lnSpc>
                <a:spcPct val="128000"/>
              </a:lnSpc>
              <a:buNone/>
            </a:pPr>
            <a:r>
              <a:rPr lang="en-US" sz="1200" dirty="0">
                <a:solidFill>
                  <a:srgbClr val="2A2742"/>
                </a:solidFill>
                <a:latin typeface="Arimo" pitchFamily="34" charset="0"/>
                <a:ea typeface="Arimo" pitchFamily="34" charset="-122"/>
                <a:cs typeface="Arimo" pitchFamily="34" charset="-120"/>
              </a:rPr>
              <a:t>Warstwa wyjściowa zwraca prawdopodobieństwa klas, np. „kot” i „pies”.</a:t>
            </a:r>
            <a:endParaRPr lang="en-US" sz="1200" dirty="0"/>
          </a:p>
        </p:txBody>
      </p:sp>
      <p:sp>
        <p:nvSpPr>
          <p:cNvPr id="20" name="Shape 15"/>
          <p:cNvSpPr/>
          <p:nvPr/>
        </p:nvSpPr>
        <p:spPr>
          <a:xfrm>
            <a:off x="6248293" y="4363641"/>
            <a:ext cx="457387" cy="19050"/>
          </a:xfrm>
          <a:prstGeom prst="roundRect">
            <a:avLst>
              <a:gd name="adj" fmla="val 49999"/>
            </a:avLst>
          </a:prstGeom>
          <a:solidFill>
            <a:srgbClr val="BDB8DF"/>
          </a:solidFill>
          <a:ln/>
        </p:spPr>
      </p:sp>
      <p:sp>
        <p:nvSpPr>
          <p:cNvPr id="21" name="Shape 16"/>
          <p:cNvSpPr/>
          <p:nvPr/>
        </p:nvSpPr>
        <p:spPr>
          <a:xfrm>
            <a:off x="5924352" y="4201716"/>
            <a:ext cx="342991" cy="342999"/>
          </a:xfrm>
          <a:prstGeom prst="roundRect">
            <a:avLst>
              <a:gd name="adj" fmla="val 18670"/>
            </a:avLst>
          </a:prstGeom>
          <a:solidFill>
            <a:srgbClr val="E9E6FA"/>
          </a:solidFill>
          <a:ln w="6350">
            <a:solidFill>
              <a:srgbClr val="BDB8DF"/>
            </a:solidFill>
            <a:prstDash val="solid"/>
          </a:ln>
        </p:spPr>
      </p:sp>
      <p:pic>
        <p:nvPicPr>
          <p:cNvPr id="22" name="Image 3" descr="preencoded.png">    </p:cNvPr>
          <p:cNvPicPr>
            <a:picLocks noChangeAspect="1"/>
          </p:cNvPicPr>
          <p:nvPr/>
        </p:nvPicPr>
        <p:blipFill>
          <a:blip r:embed="rId4"/>
          <a:stretch>
            <a:fillRect/>
          </a:stretch>
        </p:blipFill>
        <p:spPr>
          <a:xfrm>
            <a:off x="5981451" y="4258816"/>
            <a:ext cx="228693" cy="228699"/>
          </a:xfrm>
          <a:prstGeom prst="rect">
            <a:avLst/>
          </a:prstGeom>
        </p:spPr>
      </p:pic>
      <p:sp>
        <p:nvSpPr>
          <p:cNvPr id="23" name="Text 17"/>
          <p:cNvSpPr/>
          <p:nvPr/>
        </p:nvSpPr>
        <p:spPr>
          <a:xfrm>
            <a:off x="6858126" y="4254103"/>
            <a:ext cx="4672094" cy="238224"/>
          </a:xfrm>
          <a:prstGeom prst="rect">
            <a:avLst/>
          </a:prstGeom>
          <a:noFill/>
          <a:ln/>
        </p:spPr>
        <p:txBody>
          <a:bodyPr wrap="none" lIns="0" tIns="0" rIns="0" bIns="0" rtlCol="0" anchor="t"/>
          <a:lstStyle/>
          <a:p>
            <a:pPr algn="l"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Uczenie</a:t>
            </a:r>
            <a:endParaRPr lang="en-US" sz="1500" dirty="0"/>
          </a:p>
        </p:txBody>
      </p:sp>
      <p:sp>
        <p:nvSpPr>
          <p:cNvPr id="24" name="Text 18"/>
          <p:cNvSpPr/>
          <p:nvPr/>
        </p:nvSpPr>
        <p:spPr>
          <a:xfrm>
            <a:off x="6858126" y="4576663"/>
            <a:ext cx="4672094" cy="468908"/>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2A2742"/>
                </a:solidFill>
                <a:latin typeface="Arimo" pitchFamily="34" charset="0"/>
                <a:ea typeface="Arimo" pitchFamily="34" charset="-122"/>
                <a:cs typeface="Arimo" pitchFamily="34" charset="-120"/>
              </a:rPr>
              <a:t>Strata mierzy błąd, a propagacja wsteczna i optymalizator poprawiają wagi.</a:t>
            </a:r>
            <a:endParaRPr lang="en-US" sz="1200" dirty="0"/>
          </a:p>
        </p:txBody>
      </p:sp>
      <p:sp>
        <p:nvSpPr>
          <p:cNvPr id="25" name="Shape 19"/>
          <p:cNvSpPr/>
          <p:nvPr/>
        </p:nvSpPr>
        <p:spPr>
          <a:xfrm>
            <a:off x="5486015" y="5140226"/>
            <a:ext cx="457387" cy="19050"/>
          </a:xfrm>
          <a:prstGeom prst="roundRect">
            <a:avLst>
              <a:gd name="adj" fmla="val 49999"/>
            </a:avLst>
          </a:prstGeom>
          <a:solidFill>
            <a:srgbClr val="BDB8DF"/>
          </a:solidFill>
          <a:ln/>
        </p:spPr>
      </p:sp>
      <p:sp>
        <p:nvSpPr>
          <p:cNvPr id="26" name="Shape 20"/>
          <p:cNvSpPr/>
          <p:nvPr/>
        </p:nvSpPr>
        <p:spPr>
          <a:xfrm>
            <a:off x="5924352" y="4978301"/>
            <a:ext cx="342991" cy="342999"/>
          </a:xfrm>
          <a:prstGeom prst="roundRect">
            <a:avLst>
              <a:gd name="adj" fmla="val 18670"/>
            </a:avLst>
          </a:prstGeom>
          <a:solidFill>
            <a:srgbClr val="E9E6FA"/>
          </a:solidFill>
          <a:ln w="6350">
            <a:solidFill>
              <a:srgbClr val="BDB8DF"/>
            </a:solidFill>
            <a:prstDash val="solid"/>
          </a:ln>
        </p:spPr>
      </p:sp>
      <p:pic>
        <p:nvPicPr>
          <p:cNvPr id="27" name="Image 4" descr="preencoded.png">    </p:cNvPr>
          <p:cNvPicPr>
            <a:picLocks noChangeAspect="1"/>
          </p:cNvPicPr>
          <p:nvPr/>
        </p:nvPicPr>
        <p:blipFill>
          <a:blip r:embed="rId5"/>
          <a:stretch>
            <a:fillRect/>
          </a:stretch>
        </p:blipFill>
        <p:spPr>
          <a:xfrm>
            <a:off x="5981451" y="5035401"/>
            <a:ext cx="228693" cy="228699"/>
          </a:xfrm>
          <a:prstGeom prst="rect">
            <a:avLst/>
          </a:prstGeom>
        </p:spPr>
      </p:pic>
      <p:sp>
        <p:nvSpPr>
          <p:cNvPr id="28" name="Text 21"/>
          <p:cNvSpPr/>
          <p:nvPr/>
        </p:nvSpPr>
        <p:spPr>
          <a:xfrm>
            <a:off x="661475" y="5030688"/>
            <a:ext cx="4672094" cy="238224"/>
          </a:xfrm>
          <a:prstGeom prst="rect">
            <a:avLst/>
          </a:prstGeom>
          <a:noFill/>
          <a:ln/>
        </p:spPr>
        <p:txBody>
          <a:bodyPr wrap="none" lIns="0" tIns="0" rIns="0" bIns="0" rtlCol="0" anchor="t"/>
          <a:lstStyle/>
          <a:p>
            <a:pPr algn="r"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Testowanie</a:t>
            </a:r>
            <a:endParaRPr lang="en-US" sz="1500" dirty="0"/>
          </a:p>
        </p:txBody>
      </p:sp>
      <p:sp>
        <p:nvSpPr>
          <p:cNvPr id="29" name="Text 22"/>
          <p:cNvSpPr/>
          <p:nvPr/>
        </p:nvSpPr>
        <p:spPr>
          <a:xfrm>
            <a:off x="661475" y="5353248"/>
            <a:ext cx="4672094" cy="468908"/>
          </a:xfrm>
          <a:prstGeom prst="rect">
            <a:avLst/>
          </a:prstGeom>
          <a:noFill/>
          <a:ln/>
        </p:spPr>
        <p:txBody>
          <a:bodyPr wrap="square" lIns="0" tIns="0" rIns="0" bIns="0" rtlCol="0" anchor="t">
            <a:normAutofit/>
          </a:bodyPr>
          <a:lstStyle/>
          <a:p>
            <a:pPr algn="r" indent="0" marL="0">
              <a:lnSpc>
                <a:spcPct val="128000"/>
              </a:lnSpc>
              <a:buNone/>
            </a:pPr>
            <a:r>
              <a:rPr lang="en-US" sz="1200" dirty="0">
                <a:solidFill>
                  <a:srgbClr val="2A2742"/>
                </a:solidFill>
                <a:latin typeface="Arimo" pitchFamily="34" charset="0"/>
                <a:ea typeface="Arimo" pitchFamily="34" charset="-122"/>
                <a:cs typeface="Arimo" pitchFamily="34" charset="-120"/>
              </a:rPr>
              <a:t>Sprawdzamy, czy sieć dobrze rozpoznaje także nieznane wcześniej obrazy.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87516"/>
            <a:ext cx="10868745" cy="476448"/>
          </a:xfrm>
          <a:prstGeom prst="rect">
            <a:avLst/>
          </a:prstGeom>
          <a:noFill/>
          <a:ln/>
        </p:spPr>
        <p:txBody>
          <a:bodyPr wrap="none" lIns="0" tIns="0" rIns="0" bIns="0" rtlCol="0" anchor="t"/>
          <a:lstStyle/>
          <a:p>
            <a:pPr algn="l" indent="0" marL="0">
              <a:lnSpc>
                <a:spcPct val="104000"/>
              </a:lnSpc>
              <a:buNone/>
            </a:pPr>
            <a:r>
              <a:rPr lang="en-US" sz="3000" dirty="0">
                <a:solidFill>
                  <a:srgbClr val="231971"/>
                </a:solidFill>
                <a:latin typeface="Outfit ExtraBold" pitchFamily="34" charset="0"/>
                <a:ea typeface="Outfit ExtraBold" pitchFamily="34" charset="-122"/>
                <a:cs typeface="Outfit ExtraBold" pitchFamily="34" charset="-120"/>
              </a:rPr>
              <a:t>Sztuczna sieć neuronowa — cały proces od początku do końca</a:t>
            </a:r>
            <a:endParaRPr lang="en-US" sz="3000" dirty="0"/>
          </a:p>
        </p:txBody>
      </p:sp>
      <p:sp>
        <p:nvSpPr>
          <p:cNvPr id="3" name="Text 1"/>
          <p:cNvSpPr/>
          <p:nvPr/>
        </p:nvSpPr>
        <p:spPr>
          <a:xfrm>
            <a:off x="661475" y="1324471"/>
            <a:ext cx="11478330" cy="234454"/>
          </a:xfrm>
          <a:prstGeom prst="rect">
            <a:avLst/>
          </a:prstGeom>
          <a:noFill/>
          <a:ln/>
        </p:spPr>
        <p:txBody>
          <a:bodyPr wrap="none" lIns="0" tIns="0" rIns="0" bIns="0" rtlCol="0" anchor="t"/>
          <a:lstStyle/>
          <a:p>
            <a:pPr algn="l" indent="0" marL="0">
              <a:lnSpc>
                <a:spcPct val="128000"/>
              </a:lnSpc>
              <a:buNone/>
            </a:pPr>
            <a:r>
              <a:rPr lang="en-US" sz="1200" dirty="0">
                <a:solidFill>
                  <a:srgbClr val="2A2742"/>
                </a:solidFill>
                <a:latin typeface="Arimo" pitchFamily="34" charset="0"/>
                <a:ea typeface="Arimo" pitchFamily="34" charset="-122"/>
                <a:cs typeface="Arimo" pitchFamily="34" charset="-120"/>
              </a:rPr>
              <a:t>Podsumujmy kluczowe etapy, które pozwalają sieci neuronowej uczyć się i podejmować decyzje.</a:t>
            </a:r>
            <a:endParaRPr lang="en-US" sz="1200" dirty="0"/>
          </a:p>
        </p:txBody>
      </p:sp>
      <p:pic>
        <p:nvPicPr>
          <p:cNvPr id="4" name="Image 0" descr="preencoded.png">    </p:cNvPr>
          <p:cNvPicPr>
            <a:picLocks noChangeAspect="1"/>
          </p:cNvPicPr>
          <p:nvPr/>
        </p:nvPicPr>
        <p:blipFill>
          <a:blip r:embed="rId1"/>
          <a:stretch>
            <a:fillRect/>
          </a:stretch>
        </p:blipFill>
        <p:spPr>
          <a:xfrm>
            <a:off x="661475" y="1716980"/>
            <a:ext cx="762279" cy="914797"/>
          </a:xfrm>
          <a:prstGeom prst="rect">
            <a:avLst/>
          </a:prstGeom>
        </p:spPr>
      </p:pic>
      <p:sp>
        <p:nvSpPr>
          <p:cNvPr id="5" name="Text 2"/>
          <p:cNvSpPr/>
          <p:nvPr/>
        </p:nvSpPr>
        <p:spPr>
          <a:xfrm>
            <a:off x="1564244" y="1869380"/>
            <a:ext cx="9965976" cy="238224"/>
          </a:xfrm>
          <a:prstGeom prst="rect">
            <a:avLst/>
          </a:prstGeom>
          <a:noFill/>
          <a:ln/>
        </p:spPr>
        <p:txBody>
          <a:bodyPr wrap="none" lIns="0" tIns="0" rIns="0" bIns="0" rtlCol="0" anchor="t"/>
          <a:lstStyle/>
          <a:p>
            <a:pPr algn="l"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Wejście</a:t>
            </a:r>
            <a:endParaRPr lang="en-US" sz="1500" dirty="0"/>
          </a:p>
        </p:txBody>
      </p:sp>
      <p:sp>
        <p:nvSpPr>
          <p:cNvPr id="6" name="Text 3"/>
          <p:cNvSpPr/>
          <p:nvPr/>
        </p:nvSpPr>
        <p:spPr>
          <a:xfrm>
            <a:off x="1564244" y="2191941"/>
            <a:ext cx="9965976" cy="234454"/>
          </a:xfrm>
          <a:prstGeom prst="rect">
            <a:avLst/>
          </a:prstGeom>
          <a:noFill/>
          <a:ln/>
        </p:spPr>
        <p:txBody>
          <a:bodyPr wrap="none" lIns="0" tIns="0" rIns="0" bIns="0" rtlCol="0" anchor="t"/>
          <a:lstStyle/>
          <a:p>
            <a:pPr algn="l" indent="0" marL="0">
              <a:lnSpc>
                <a:spcPct val="128000"/>
              </a:lnSpc>
              <a:buNone/>
            </a:pPr>
            <a:r>
              <a:rPr lang="en-US" sz="1200" dirty="0">
                <a:solidFill>
                  <a:srgbClr val="2A2742"/>
                </a:solidFill>
                <a:latin typeface="Arimo" pitchFamily="34" charset="0"/>
                <a:ea typeface="Arimo" pitchFamily="34" charset="-122"/>
                <a:cs typeface="Arimo" pitchFamily="34" charset="-120"/>
              </a:rPr>
              <a:t>Dane (np. obraz) są zamieniane na liczbowe wartości (piksele RGB), które sieć może przetwarzać.</a:t>
            </a:r>
            <a:endParaRPr lang="en-US" sz="1200" dirty="0"/>
          </a:p>
        </p:txBody>
      </p:sp>
      <p:pic>
        <p:nvPicPr>
          <p:cNvPr id="7" name="Image 1" descr="preencoded.png">    </p:cNvPr>
          <p:cNvPicPr>
            <a:picLocks noChangeAspect="1"/>
          </p:cNvPicPr>
          <p:nvPr/>
        </p:nvPicPr>
        <p:blipFill>
          <a:blip r:embed="rId2"/>
          <a:stretch>
            <a:fillRect/>
          </a:stretch>
        </p:blipFill>
        <p:spPr>
          <a:xfrm>
            <a:off x="661475" y="2631777"/>
            <a:ext cx="762279" cy="914797"/>
          </a:xfrm>
          <a:prstGeom prst="rect">
            <a:avLst/>
          </a:prstGeom>
        </p:spPr>
      </p:pic>
      <p:sp>
        <p:nvSpPr>
          <p:cNvPr id="8" name="Text 4"/>
          <p:cNvSpPr/>
          <p:nvPr/>
        </p:nvSpPr>
        <p:spPr>
          <a:xfrm>
            <a:off x="1564244" y="2784177"/>
            <a:ext cx="9965976" cy="238224"/>
          </a:xfrm>
          <a:prstGeom prst="rect">
            <a:avLst/>
          </a:prstGeom>
          <a:noFill/>
          <a:ln/>
        </p:spPr>
        <p:txBody>
          <a:bodyPr wrap="none" lIns="0" tIns="0" rIns="0" bIns="0" rtlCol="0" anchor="t"/>
          <a:lstStyle/>
          <a:p>
            <a:pPr algn="l"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Przetwarzanie</a:t>
            </a:r>
            <a:endParaRPr lang="en-US" sz="1500" dirty="0"/>
          </a:p>
        </p:txBody>
      </p:sp>
      <p:sp>
        <p:nvSpPr>
          <p:cNvPr id="9" name="Text 5"/>
          <p:cNvSpPr/>
          <p:nvPr/>
        </p:nvSpPr>
        <p:spPr>
          <a:xfrm>
            <a:off x="1564244" y="3106737"/>
            <a:ext cx="9965976" cy="234454"/>
          </a:xfrm>
          <a:prstGeom prst="rect">
            <a:avLst/>
          </a:prstGeom>
          <a:noFill/>
          <a:ln/>
        </p:spPr>
        <p:txBody>
          <a:bodyPr wrap="none" lIns="0" tIns="0" rIns="0" bIns="0" rtlCol="0" anchor="t"/>
          <a:lstStyle/>
          <a:p>
            <a:pPr algn="l" indent="0" marL="0">
              <a:lnSpc>
                <a:spcPct val="128000"/>
              </a:lnSpc>
              <a:buNone/>
            </a:pPr>
            <a:r>
              <a:rPr lang="en-US" sz="1200" dirty="0">
                <a:solidFill>
                  <a:srgbClr val="2A2742"/>
                </a:solidFill>
                <a:latin typeface="Arimo" pitchFamily="34" charset="0"/>
                <a:ea typeface="Arimo" pitchFamily="34" charset="-122"/>
                <a:cs typeface="Arimo" pitchFamily="34" charset="-120"/>
              </a:rPr>
              <a:t>W kolejnych warstwach neurony wykonują obliczenia: mnożą wejścia przez wagi, sumują je z biasem i aktywują.</a:t>
            </a:r>
            <a:endParaRPr lang="en-US" sz="1200" dirty="0"/>
          </a:p>
        </p:txBody>
      </p:sp>
      <p:pic>
        <p:nvPicPr>
          <p:cNvPr id="10" name="Image 2" descr="preencoded.png">    </p:cNvPr>
          <p:cNvPicPr>
            <a:picLocks noChangeAspect="1"/>
          </p:cNvPicPr>
          <p:nvPr/>
        </p:nvPicPr>
        <p:blipFill>
          <a:blip r:embed="rId3"/>
          <a:stretch>
            <a:fillRect/>
          </a:stretch>
        </p:blipFill>
        <p:spPr>
          <a:xfrm>
            <a:off x="661475" y="3546574"/>
            <a:ext cx="762279" cy="914797"/>
          </a:xfrm>
          <a:prstGeom prst="rect">
            <a:avLst/>
          </a:prstGeom>
        </p:spPr>
      </p:pic>
      <p:sp>
        <p:nvSpPr>
          <p:cNvPr id="11" name="Text 6"/>
          <p:cNvSpPr/>
          <p:nvPr/>
        </p:nvSpPr>
        <p:spPr>
          <a:xfrm>
            <a:off x="1564244" y="3698974"/>
            <a:ext cx="9965976" cy="238224"/>
          </a:xfrm>
          <a:prstGeom prst="rect">
            <a:avLst/>
          </a:prstGeom>
          <a:noFill/>
          <a:ln/>
        </p:spPr>
        <p:txBody>
          <a:bodyPr wrap="none" lIns="0" tIns="0" rIns="0" bIns="0" rtlCol="0" anchor="t"/>
          <a:lstStyle/>
          <a:p>
            <a:pPr algn="l"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Wynik</a:t>
            </a:r>
            <a:endParaRPr lang="en-US" sz="1500" dirty="0"/>
          </a:p>
        </p:txBody>
      </p:sp>
      <p:sp>
        <p:nvSpPr>
          <p:cNvPr id="12" name="Text 7"/>
          <p:cNvSpPr/>
          <p:nvPr/>
        </p:nvSpPr>
        <p:spPr>
          <a:xfrm>
            <a:off x="1564244" y="4021534"/>
            <a:ext cx="9965976" cy="234454"/>
          </a:xfrm>
          <a:prstGeom prst="rect">
            <a:avLst/>
          </a:prstGeom>
          <a:noFill/>
          <a:ln/>
        </p:spPr>
        <p:txBody>
          <a:bodyPr wrap="none" lIns="0" tIns="0" rIns="0" bIns="0" rtlCol="0" anchor="t"/>
          <a:lstStyle/>
          <a:p>
            <a:pPr algn="l" indent="0" marL="0">
              <a:lnSpc>
                <a:spcPct val="128000"/>
              </a:lnSpc>
              <a:buNone/>
            </a:pPr>
            <a:r>
              <a:rPr lang="en-US" sz="1200" dirty="0">
                <a:solidFill>
                  <a:srgbClr val="2A2742"/>
                </a:solidFill>
                <a:latin typeface="Arimo" pitchFamily="34" charset="0"/>
                <a:ea typeface="Arimo" pitchFamily="34" charset="-122"/>
                <a:cs typeface="Arimo" pitchFamily="34" charset="-120"/>
              </a:rPr>
              <a:t>Warstwa wyjściowa generuje prawdopodobieństwa przynależności do różnych klas, np. "kot" 0.92, "pies" 0.08.</a:t>
            </a:r>
            <a:endParaRPr lang="en-US" sz="1200" dirty="0"/>
          </a:p>
        </p:txBody>
      </p:sp>
      <p:pic>
        <p:nvPicPr>
          <p:cNvPr id="13" name="Image 3" descr="preencoded.png">    </p:cNvPr>
          <p:cNvPicPr>
            <a:picLocks noChangeAspect="1"/>
          </p:cNvPicPr>
          <p:nvPr/>
        </p:nvPicPr>
        <p:blipFill>
          <a:blip r:embed="rId4"/>
          <a:stretch>
            <a:fillRect/>
          </a:stretch>
        </p:blipFill>
        <p:spPr>
          <a:xfrm>
            <a:off x="661475" y="4461371"/>
            <a:ext cx="762279" cy="914797"/>
          </a:xfrm>
          <a:prstGeom prst="rect">
            <a:avLst/>
          </a:prstGeom>
        </p:spPr>
      </p:pic>
      <p:sp>
        <p:nvSpPr>
          <p:cNvPr id="14" name="Text 8"/>
          <p:cNvSpPr/>
          <p:nvPr/>
        </p:nvSpPr>
        <p:spPr>
          <a:xfrm>
            <a:off x="1564244" y="4613771"/>
            <a:ext cx="9965976" cy="238224"/>
          </a:xfrm>
          <a:prstGeom prst="rect">
            <a:avLst/>
          </a:prstGeom>
          <a:noFill/>
          <a:ln/>
        </p:spPr>
        <p:txBody>
          <a:bodyPr wrap="none" lIns="0" tIns="0" rIns="0" bIns="0" rtlCol="0" anchor="t"/>
          <a:lstStyle/>
          <a:p>
            <a:pPr algn="l"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Uczenie</a:t>
            </a:r>
            <a:endParaRPr lang="en-US" sz="1500" dirty="0"/>
          </a:p>
        </p:txBody>
      </p:sp>
      <p:sp>
        <p:nvSpPr>
          <p:cNvPr id="15" name="Text 9"/>
          <p:cNvSpPr/>
          <p:nvPr/>
        </p:nvSpPr>
        <p:spPr>
          <a:xfrm>
            <a:off x="1564244" y="4936331"/>
            <a:ext cx="9965976" cy="234454"/>
          </a:xfrm>
          <a:prstGeom prst="rect">
            <a:avLst/>
          </a:prstGeom>
          <a:noFill/>
          <a:ln/>
        </p:spPr>
        <p:txBody>
          <a:bodyPr wrap="none" lIns="0" tIns="0" rIns="0" bIns="0" rtlCol="0" anchor="t"/>
          <a:lstStyle/>
          <a:p>
            <a:pPr algn="l" indent="0" marL="0">
              <a:lnSpc>
                <a:spcPct val="128000"/>
              </a:lnSpc>
              <a:buNone/>
            </a:pPr>
            <a:r>
              <a:rPr lang="en-US" sz="1200" dirty="0">
                <a:solidFill>
                  <a:srgbClr val="2A2742"/>
                </a:solidFill>
                <a:latin typeface="Arimo" pitchFamily="34" charset="0"/>
                <a:ea typeface="Arimo" pitchFamily="34" charset="-122"/>
                <a:cs typeface="Arimo" pitchFamily="34" charset="-120"/>
              </a:rPr>
              <a:t>Na podstawie błędu (straty) sieć aktualizuje swoje wagi i biasy za pomocą propagacji wstecznej i optymalizatora.</a:t>
            </a:r>
            <a:endParaRPr lang="en-US" sz="1200" dirty="0"/>
          </a:p>
        </p:txBody>
      </p:sp>
      <p:pic>
        <p:nvPicPr>
          <p:cNvPr id="16" name="Image 4" descr="preencoded.png">    </p:cNvPr>
          <p:cNvPicPr>
            <a:picLocks noChangeAspect="1"/>
          </p:cNvPicPr>
          <p:nvPr/>
        </p:nvPicPr>
        <p:blipFill>
          <a:blip r:embed="rId5"/>
          <a:stretch>
            <a:fillRect/>
          </a:stretch>
        </p:blipFill>
        <p:spPr>
          <a:xfrm>
            <a:off x="661475" y="5376168"/>
            <a:ext cx="762279" cy="914797"/>
          </a:xfrm>
          <a:prstGeom prst="rect">
            <a:avLst/>
          </a:prstGeom>
        </p:spPr>
      </p:pic>
      <p:sp>
        <p:nvSpPr>
          <p:cNvPr id="17" name="Text 10"/>
          <p:cNvSpPr/>
          <p:nvPr/>
        </p:nvSpPr>
        <p:spPr>
          <a:xfrm>
            <a:off x="1564244" y="5528568"/>
            <a:ext cx="9965976" cy="238224"/>
          </a:xfrm>
          <a:prstGeom prst="rect">
            <a:avLst/>
          </a:prstGeom>
          <a:noFill/>
          <a:ln/>
        </p:spPr>
        <p:txBody>
          <a:bodyPr wrap="none" lIns="0" tIns="0" rIns="0" bIns="0" rtlCol="0" anchor="t"/>
          <a:lstStyle/>
          <a:p>
            <a:pPr algn="l"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Testowanie</a:t>
            </a:r>
            <a:endParaRPr lang="en-US" sz="1500" dirty="0"/>
          </a:p>
        </p:txBody>
      </p:sp>
      <p:sp>
        <p:nvSpPr>
          <p:cNvPr id="18" name="Text 11"/>
          <p:cNvSpPr/>
          <p:nvPr/>
        </p:nvSpPr>
        <p:spPr>
          <a:xfrm>
            <a:off x="1564244" y="5851128"/>
            <a:ext cx="9965976" cy="234454"/>
          </a:xfrm>
          <a:prstGeom prst="rect">
            <a:avLst/>
          </a:prstGeom>
          <a:noFill/>
          <a:ln/>
        </p:spPr>
        <p:txBody>
          <a:bodyPr wrap="none" lIns="0" tIns="0" rIns="0" bIns="0" rtlCol="0" anchor="t"/>
          <a:lstStyle/>
          <a:p>
            <a:pPr algn="l" indent="0" marL="0">
              <a:lnSpc>
                <a:spcPct val="128000"/>
              </a:lnSpc>
              <a:buNone/>
            </a:pPr>
            <a:r>
              <a:rPr lang="en-US" sz="1200" dirty="0">
                <a:solidFill>
                  <a:srgbClr val="2A2742"/>
                </a:solidFill>
                <a:latin typeface="Arimo" pitchFamily="34" charset="0"/>
                <a:ea typeface="Arimo" pitchFamily="34" charset="-122"/>
                <a:cs typeface="Arimo" pitchFamily="34" charset="-120"/>
              </a:rPr>
              <a:t>Sprawdzamy, jak sieć radzi sobie z nowymi, nigdy wcześniej niewidzianymi danymi, oceniając jej zdolność do generalizacji.</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614628"/>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231971"/>
                </a:solidFill>
                <a:latin typeface="Outfit ExtraBold" pitchFamily="34" charset="0"/>
                <a:ea typeface="Outfit ExtraBold" pitchFamily="34" charset="-122"/>
                <a:cs typeface="Outfit ExtraBold" pitchFamily="34" charset="-120"/>
              </a:rPr>
              <a:t>Typy Zadań Sieci Neuronowych: Klasyfikacja vs Regresja</a:t>
            </a:r>
            <a:endParaRPr lang="en-US" sz="3250" dirty="0"/>
          </a:p>
        </p:txBody>
      </p:sp>
      <p:sp>
        <p:nvSpPr>
          <p:cNvPr id="3" name="Text 1"/>
          <p:cNvSpPr/>
          <p:nvPr/>
        </p:nvSpPr>
        <p:spPr>
          <a:xfrm>
            <a:off x="661475" y="1438870"/>
            <a:ext cx="10868745" cy="979884"/>
          </a:xfrm>
          <a:prstGeom prst="rect">
            <a:avLst/>
          </a:prstGeom>
          <a:noFill/>
          <a:ln/>
        </p:spPr>
        <p:txBody>
          <a:bodyPr wrap="square" lIns="0" tIns="0" rIns="0" bIns="0" rtlCol="0" anchor="t">
            <a:normAutofit/>
          </a:bodyPr>
          <a:lstStyle/>
          <a:p>
            <a:pPr algn="l" indent="0" marL="0">
              <a:lnSpc>
                <a:spcPct val="133000"/>
              </a:lnSpc>
              <a:spcAft>
                <a:spcPts val="1450"/>
              </a:spcAft>
              <a:buNone/>
            </a:pPr>
            <a:r>
              <a:rPr lang="en-US" sz="1300" dirty="0">
                <a:solidFill>
                  <a:srgbClr val="2A2742"/>
                </a:solidFill>
                <a:latin typeface="Arimo" pitchFamily="34" charset="0"/>
                <a:ea typeface="Arimo" pitchFamily="34" charset="-122"/>
                <a:cs typeface="Arimo" pitchFamily="34" charset="-120"/>
              </a:rPr>
              <a:t>Do tej pory nasza sieć neuronowa odpowiadała na pytanie: </a:t>
            </a:r>
            <a:pPr algn="l" indent="0" marL="0">
              <a:lnSpc>
                <a:spcPct val="133000"/>
              </a:lnSpc>
              <a:spcAft>
                <a:spcPts val="1450"/>
              </a:spcAft>
              <a:buNone/>
            </a:pPr>
            <a:r>
              <a:rPr lang="en-US" sz="1300" b="1" dirty="0">
                <a:solidFill>
                  <a:srgbClr val="2A2742"/>
                </a:solidFill>
                <a:latin typeface="Arimo Bold" pitchFamily="34" charset="0"/>
                <a:ea typeface="Arimo Bold" pitchFamily="34" charset="-122"/>
                <a:cs typeface="Arimo Bold" pitchFamily="34" charset="-120"/>
              </a:rPr>
              <a:t>„co to jest?”</a:t>
            </a:r>
            <a:pPr algn="l" indent="0" marL="0">
              <a:lnSpc>
                <a:spcPct val="133000"/>
              </a:lnSpc>
              <a:spcAft>
                <a:spcPts val="1450"/>
              </a:spcAft>
              <a:buNone/>
            </a:pPr>
            <a:r>
              <a:rPr lang="en-US" sz="1300" dirty="0">
                <a:solidFill>
                  <a:srgbClr val="2A2742"/>
                </a:solidFill>
                <a:latin typeface="Arimo" pitchFamily="34" charset="0"/>
                <a:ea typeface="Arimo" pitchFamily="34" charset="-122"/>
                <a:cs typeface="Arimo" pitchFamily="34" charset="-120"/>
              </a:rPr>
              <a:t> (kot czy pies). To jest zadanie </a:t>
            </a:r>
            <a:pPr algn="l" indent="0" marL="0">
              <a:lnSpc>
                <a:spcPct val="133000"/>
              </a:lnSpc>
              <a:spcAft>
                <a:spcPts val="1450"/>
              </a:spcAft>
              <a:buNone/>
            </a:pPr>
            <a:r>
              <a:rPr lang="en-US" sz="1300" b="1" dirty="0">
                <a:solidFill>
                  <a:srgbClr val="2A2742"/>
                </a:solidFill>
                <a:latin typeface="Arimo Bold" pitchFamily="34" charset="0"/>
                <a:ea typeface="Arimo Bold" pitchFamily="34" charset="-122"/>
                <a:cs typeface="Arimo Bold" pitchFamily="34" charset="-120"/>
              </a:rPr>
              <a:t>klasyfikacji</a:t>
            </a:r>
            <a:pPr algn="l" indent="0" marL="0">
              <a:lnSpc>
                <a:spcPct val="133000"/>
              </a:lnSpc>
              <a:spcAft>
                <a:spcPts val="1450"/>
              </a:spcAft>
              <a:buNone/>
            </a:pPr>
            <a:r>
              <a:rPr lang="en-US" sz="1300" dirty="0">
                <a:solidFill>
                  <a:srgbClr val="2A2742"/>
                </a:solidFill>
                <a:latin typeface="Arimo" pitchFamily="34" charset="0"/>
                <a:ea typeface="Arimo" pitchFamily="34" charset="-122"/>
                <a:cs typeface="Arimo" pitchFamily="34" charset="-120"/>
              </a:rPr>
              <a:t>: sieć wybiera jedną z kilku gotowych kategorii.</a:t>
            </a:r>
            <a:endParaRPr lang="en-US" sz="1300" dirty="0"/>
          </a:p>
          <a:p>
            <a:pPr algn="l" indent="0" marL="0">
              <a:lnSpc>
                <a:spcPct val="133000"/>
              </a:lnSpc>
              <a:buNone/>
            </a:pPr>
            <a:r>
              <a:rPr lang="en-US" sz="1300" dirty="0">
                <a:solidFill>
                  <a:srgbClr val="2A2742"/>
                </a:solidFill>
                <a:latin typeface="Arimo" pitchFamily="34" charset="0"/>
                <a:ea typeface="Arimo" pitchFamily="34" charset="-122"/>
                <a:cs typeface="Arimo" pitchFamily="34" charset="-120"/>
              </a:rPr>
              <a:t>Ale sieci neuronowe potrafią również odpowiadać na pytanie: </a:t>
            </a:r>
            <a:pPr algn="l" indent="0" marL="0">
              <a:lnSpc>
                <a:spcPct val="133000"/>
              </a:lnSpc>
              <a:buNone/>
            </a:pPr>
            <a:r>
              <a:rPr lang="en-US" sz="1300" b="1" dirty="0">
                <a:solidFill>
                  <a:srgbClr val="2A2742"/>
                </a:solidFill>
                <a:latin typeface="Arimo Bold" pitchFamily="34" charset="0"/>
                <a:ea typeface="Arimo Bold" pitchFamily="34" charset="-122"/>
                <a:cs typeface="Arimo Bold" pitchFamily="34" charset="-120"/>
              </a:rPr>
              <a:t>„ile?”</a:t>
            </a:r>
            <a:pPr algn="l" indent="0" marL="0">
              <a:lnSpc>
                <a:spcPct val="133000"/>
              </a:lnSpc>
              <a:buNone/>
            </a:pPr>
            <a:r>
              <a:rPr lang="en-US" sz="1300" dirty="0">
                <a:solidFill>
                  <a:srgbClr val="2A2742"/>
                </a:solidFill>
                <a:latin typeface="Arimo" pitchFamily="34" charset="0"/>
                <a:ea typeface="Arimo" pitchFamily="34" charset="-122"/>
                <a:cs typeface="Arimo" pitchFamily="34" charset="-120"/>
              </a:rPr>
              <a:t> albo </a:t>
            </a:r>
            <a:pPr algn="l" indent="0" marL="0">
              <a:lnSpc>
                <a:spcPct val="133000"/>
              </a:lnSpc>
              <a:buNone/>
            </a:pPr>
            <a:r>
              <a:rPr lang="en-US" sz="1300" b="1" dirty="0">
                <a:solidFill>
                  <a:srgbClr val="2A2742"/>
                </a:solidFill>
                <a:latin typeface="Arimo Bold" pitchFamily="34" charset="0"/>
                <a:ea typeface="Arimo Bold" pitchFamily="34" charset="-122"/>
                <a:cs typeface="Arimo Bold" pitchFamily="34" charset="-120"/>
              </a:rPr>
              <a:t>„jaka wartość?”</a:t>
            </a:r>
            <a:pPr algn="l" indent="0" marL="0">
              <a:lnSpc>
                <a:spcPct val="133000"/>
              </a:lnSpc>
              <a:buNone/>
            </a:pPr>
            <a:r>
              <a:rPr lang="en-US" sz="1300" dirty="0">
                <a:solidFill>
                  <a:srgbClr val="2A2742"/>
                </a:solidFill>
                <a:latin typeface="Arimo" pitchFamily="34" charset="0"/>
                <a:ea typeface="Arimo" pitchFamily="34" charset="-122"/>
                <a:cs typeface="Arimo" pitchFamily="34" charset="-120"/>
              </a:rPr>
              <a:t>. Nazywamy to </a:t>
            </a:r>
            <a:pPr algn="l" indent="0" marL="0">
              <a:lnSpc>
                <a:spcPct val="133000"/>
              </a:lnSpc>
              <a:buNone/>
            </a:pPr>
            <a:r>
              <a:rPr lang="en-US" sz="1300" b="1" dirty="0">
                <a:solidFill>
                  <a:srgbClr val="2A2742"/>
                </a:solidFill>
                <a:latin typeface="Arimo Bold" pitchFamily="34" charset="0"/>
                <a:ea typeface="Arimo Bold" pitchFamily="34" charset="-122"/>
                <a:cs typeface="Arimo Bold" pitchFamily="34" charset="-120"/>
              </a:rPr>
              <a:t>regresją</a:t>
            </a:r>
            <a:pPr algn="l" indent="0" marL="0">
              <a:lnSpc>
                <a:spcPct val="133000"/>
              </a:lnSpc>
              <a:buNone/>
            </a:pPr>
            <a:r>
              <a:rPr lang="en-US" sz="1300" dirty="0">
                <a:solidFill>
                  <a:srgbClr val="2A2742"/>
                </a:solidFill>
                <a:latin typeface="Arimo" pitchFamily="34" charset="0"/>
                <a:ea typeface="Arimo" pitchFamily="34" charset="-122"/>
                <a:cs typeface="Arimo" pitchFamily="34" charset="-120"/>
              </a:rPr>
              <a:t>.</a:t>
            </a:r>
            <a:endParaRPr lang="en-US" sz="13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604790"/>
            <a:ext cx="5351725" cy="2760464"/>
          </a:xfrm>
          <a:prstGeom prst="rect">
            <a:avLst/>
          </a:prstGeom>
        </p:spPr>
      </p:pic>
      <p:sp>
        <p:nvSpPr>
          <p:cNvPr id="5" name="Text 2"/>
          <p:cNvSpPr/>
          <p:nvPr/>
        </p:nvSpPr>
        <p:spPr>
          <a:xfrm>
            <a:off x="3213317" y="2713633"/>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2A2742"/>
                </a:solidFill>
                <a:latin typeface="Outfit ExtraBold" pitchFamily="34" charset="0"/>
                <a:ea typeface="Outfit ExtraBold" pitchFamily="34" charset="-122"/>
                <a:cs typeface="Outfit ExtraBold" pitchFamily="34" charset="-120"/>
              </a:rPr>
              <a:t>1</a:t>
            </a:r>
            <a:endParaRPr lang="en-US" sz="1950" dirty="0"/>
          </a:p>
        </p:txBody>
      </p:sp>
      <p:sp>
        <p:nvSpPr>
          <p:cNvPr id="6" name="Text 3"/>
          <p:cNvSpPr/>
          <p:nvPr/>
        </p:nvSpPr>
        <p:spPr>
          <a:xfrm>
            <a:off x="845819" y="3285232"/>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Klasyfikacja</a:t>
            </a:r>
            <a:endParaRPr lang="en-US" sz="1600" dirty="0"/>
          </a:p>
        </p:txBody>
      </p:sp>
      <p:sp>
        <p:nvSpPr>
          <p:cNvPr id="7" name="Text 4"/>
          <p:cNvSpPr/>
          <p:nvPr/>
        </p:nvSpPr>
        <p:spPr>
          <a:xfrm>
            <a:off x="845819" y="3642916"/>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A2742"/>
                </a:solidFill>
                <a:latin typeface="Arimo" pitchFamily="34" charset="0"/>
                <a:ea typeface="Arimo" pitchFamily="34" charset="-122"/>
                <a:cs typeface="Arimo" pitchFamily="34" charset="-120"/>
              </a:rPr>
              <a:t>Celem jest przypisanie danych do jednej z predefiniowanych kategorii.</a:t>
            </a:r>
            <a:endParaRPr lang="en-US" sz="1300" dirty="0"/>
          </a:p>
        </p:txBody>
      </p:sp>
      <p:sp>
        <p:nvSpPr>
          <p:cNvPr id="8" name="Text 5"/>
          <p:cNvSpPr/>
          <p:nvPr/>
        </p:nvSpPr>
        <p:spPr>
          <a:xfrm>
            <a:off x="845819" y="4271367"/>
            <a:ext cx="4983038" cy="909538"/>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2A2742"/>
                </a:solidFill>
                <a:latin typeface="Arimo" pitchFamily="34" charset="0"/>
                <a:ea typeface="Arimo" pitchFamily="34" charset="-122"/>
                <a:cs typeface="Arimo" pitchFamily="34" charset="-120"/>
              </a:rPr>
              <a:t>Rozpoznawanie obrazów (kot/pies)</a:t>
            </a:r>
            <a:endParaRPr lang="en-US" sz="1300" dirty="0"/>
          </a:p>
          <a:p>
            <a:pPr algn="l" marL="264160" indent="-264160">
              <a:lnSpc>
                <a:spcPct val="133000"/>
              </a:lnSpc>
              <a:buSzPct val="100000"/>
              <a:buChar char="•"/>
            </a:pPr>
            <a:r>
              <a:rPr lang="en-US" sz="1300" dirty="0">
                <a:solidFill>
                  <a:srgbClr val="2A2742"/>
                </a:solidFill>
                <a:latin typeface="Arimo" pitchFamily="34" charset="0"/>
                <a:ea typeface="Arimo" pitchFamily="34" charset="-122"/>
                <a:cs typeface="Arimo" pitchFamily="34" charset="-120"/>
              </a:rPr>
              <a:t>Wykrywanie spamu (spam/brak spamu)</a:t>
            </a:r>
            <a:endParaRPr lang="en-US" sz="1300" dirty="0"/>
          </a:p>
          <a:p>
            <a:pPr algn="l" marL="264160" indent="-264160">
              <a:lnSpc>
                <a:spcPct val="133000"/>
              </a:lnSpc>
              <a:buSzPct val="100000"/>
              <a:buChar char="•"/>
            </a:pPr>
            <a:r>
              <a:rPr lang="en-US" sz="1300" dirty="0">
                <a:solidFill>
                  <a:srgbClr val="2A2742"/>
                </a:solidFill>
                <a:latin typeface="Arimo" pitchFamily="34" charset="0"/>
                <a:ea typeface="Arimo" pitchFamily="34" charset="-122"/>
                <a:cs typeface="Arimo" pitchFamily="34" charset="-120"/>
              </a:rPr>
              <a:t>Diagnoza choroby (chory/zdrowy)</a:t>
            </a:r>
            <a:endParaRPr lang="en-US" sz="13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8495" y="2604790"/>
            <a:ext cx="5351725" cy="2760464"/>
          </a:xfrm>
          <a:prstGeom prst="rect">
            <a:avLst/>
          </a:prstGeom>
        </p:spPr>
      </p:pic>
      <p:sp>
        <p:nvSpPr>
          <p:cNvPr id="10" name="Text 6"/>
          <p:cNvSpPr/>
          <p:nvPr/>
        </p:nvSpPr>
        <p:spPr>
          <a:xfrm>
            <a:off x="8730337" y="2713633"/>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2A2742"/>
                </a:solidFill>
                <a:latin typeface="Outfit ExtraBold" pitchFamily="34" charset="0"/>
                <a:ea typeface="Outfit ExtraBold" pitchFamily="34" charset="-122"/>
                <a:cs typeface="Outfit ExtraBold" pitchFamily="34" charset="-120"/>
              </a:rPr>
              <a:t>2</a:t>
            </a:r>
            <a:endParaRPr lang="en-US" sz="1950" dirty="0"/>
          </a:p>
        </p:txBody>
      </p:sp>
      <p:sp>
        <p:nvSpPr>
          <p:cNvPr id="11" name="Text 7"/>
          <p:cNvSpPr/>
          <p:nvPr/>
        </p:nvSpPr>
        <p:spPr>
          <a:xfrm>
            <a:off x="6362838" y="3285232"/>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Regresja</a:t>
            </a:r>
            <a:endParaRPr lang="en-US" sz="1600" dirty="0"/>
          </a:p>
        </p:txBody>
      </p:sp>
      <p:sp>
        <p:nvSpPr>
          <p:cNvPr id="12" name="Text 8"/>
          <p:cNvSpPr/>
          <p:nvPr/>
        </p:nvSpPr>
        <p:spPr>
          <a:xfrm>
            <a:off x="6362838" y="3642916"/>
            <a:ext cx="4983038" cy="264616"/>
          </a:xfrm>
          <a:prstGeom prst="rect">
            <a:avLst/>
          </a:prstGeom>
          <a:noFill/>
          <a:ln/>
        </p:spPr>
        <p:txBody>
          <a:bodyPr wrap="none" lIns="0" tIns="0" rIns="0" bIns="0" rtlCol="0" anchor="t"/>
          <a:lstStyle/>
          <a:p>
            <a:pPr algn="l" indent="0" marL="0">
              <a:lnSpc>
                <a:spcPct val="133000"/>
              </a:lnSpc>
              <a:buNone/>
            </a:pPr>
            <a:r>
              <a:rPr lang="en-US" sz="1300" dirty="0">
                <a:solidFill>
                  <a:srgbClr val="2A2742"/>
                </a:solidFill>
                <a:latin typeface="Arimo" pitchFamily="34" charset="0"/>
                <a:ea typeface="Arimo" pitchFamily="34" charset="-122"/>
                <a:cs typeface="Arimo" pitchFamily="34" charset="-120"/>
              </a:rPr>
              <a:t>Celem jest przewidywanie ciągłej wartości liczbowej.</a:t>
            </a:r>
            <a:endParaRPr lang="en-US" sz="1300" dirty="0"/>
          </a:p>
        </p:txBody>
      </p:sp>
      <p:sp>
        <p:nvSpPr>
          <p:cNvPr id="13" name="Text 9"/>
          <p:cNvSpPr/>
          <p:nvPr/>
        </p:nvSpPr>
        <p:spPr>
          <a:xfrm>
            <a:off x="6362838" y="4006751"/>
            <a:ext cx="4983038" cy="909538"/>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2A2742"/>
                </a:solidFill>
                <a:latin typeface="Arimo" pitchFamily="34" charset="0"/>
                <a:ea typeface="Arimo" pitchFamily="34" charset="-122"/>
                <a:cs typeface="Arimo" pitchFamily="34" charset="-120"/>
              </a:rPr>
              <a:t>Przewidywanie ceny mieszkania</a:t>
            </a:r>
            <a:endParaRPr lang="en-US" sz="1300" dirty="0"/>
          </a:p>
          <a:p>
            <a:pPr algn="l" marL="264160" indent="-264160">
              <a:lnSpc>
                <a:spcPct val="133000"/>
              </a:lnSpc>
              <a:buSzPct val="100000"/>
              <a:buChar char="•"/>
            </a:pPr>
            <a:r>
              <a:rPr lang="en-US" sz="1300" dirty="0">
                <a:solidFill>
                  <a:srgbClr val="2A2742"/>
                </a:solidFill>
                <a:latin typeface="Arimo" pitchFamily="34" charset="0"/>
                <a:ea typeface="Arimo" pitchFamily="34" charset="-122"/>
                <a:cs typeface="Arimo" pitchFamily="34" charset="-120"/>
              </a:rPr>
              <a:t>Prognoza temperatury na jutro</a:t>
            </a:r>
            <a:endParaRPr lang="en-US" sz="1300" dirty="0"/>
          </a:p>
          <a:p>
            <a:pPr algn="l" marL="264160" indent="-264160">
              <a:lnSpc>
                <a:spcPct val="133000"/>
              </a:lnSpc>
              <a:buSzPct val="100000"/>
              <a:buChar char="•"/>
            </a:pPr>
            <a:r>
              <a:rPr lang="en-US" sz="1300" dirty="0">
                <a:solidFill>
                  <a:srgbClr val="2A2742"/>
                </a:solidFill>
                <a:latin typeface="Arimo" pitchFamily="34" charset="0"/>
                <a:ea typeface="Arimo" pitchFamily="34" charset="-122"/>
                <a:cs typeface="Arimo" pitchFamily="34" charset="-120"/>
              </a:rPr>
              <a:t>Szacowanie, ile klient wyda w przyszłości</a:t>
            </a:r>
            <a:endParaRPr lang="en-US" sz="1300" dirty="0"/>
          </a:p>
        </p:txBody>
      </p:sp>
      <p:sp>
        <p:nvSpPr>
          <p:cNvPr id="14" name="Text 10"/>
          <p:cNvSpPr/>
          <p:nvPr/>
        </p:nvSpPr>
        <p:spPr>
          <a:xfrm>
            <a:off x="661475" y="5551289"/>
            <a:ext cx="10868745" cy="715268"/>
          </a:xfrm>
          <a:prstGeom prst="rect">
            <a:avLst/>
          </a:prstGeom>
          <a:noFill/>
          <a:ln/>
        </p:spPr>
        <p:txBody>
          <a:bodyPr wrap="square" lIns="0" tIns="0" rIns="0" bIns="0" rtlCol="0" anchor="t"/>
          <a:lstStyle/>
          <a:p>
            <a:pPr algn="l" indent="0" marL="0">
              <a:lnSpc>
                <a:spcPct val="133000"/>
              </a:lnSpc>
              <a:spcAft>
                <a:spcPts val="1450"/>
              </a:spcAft>
              <a:buNone/>
            </a:pPr>
            <a:r>
              <a:rPr lang="en-US" sz="1300" dirty="0">
                <a:solidFill>
                  <a:srgbClr val="2A2742"/>
                </a:solidFill>
                <a:latin typeface="Arimo" pitchFamily="34" charset="0"/>
                <a:ea typeface="Arimo" pitchFamily="34" charset="-122"/>
                <a:cs typeface="Arimo" pitchFamily="34" charset="-120"/>
              </a:rPr>
              <a:t>Budowa sieci jest bardzo podobna w obu przypadkach. Różni się głównie warstwa wyjściowa i funkcja straty (sposób mierzenia błędu).</a:t>
            </a:r>
            <a:endParaRPr lang="en-US" sz="1300" dirty="0"/>
          </a:p>
          <a:p>
            <a:pPr algn="l" indent="0" marL="0">
              <a:lnSpc>
                <a:spcPct val="133000"/>
              </a:lnSpc>
              <a:buNone/>
            </a:pPr>
            <a:r>
              <a:rPr lang="en-US" sz="1300" dirty="0">
                <a:solidFill>
                  <a:srgbClr val="2A2742"/>
                </a:solidFill>
                <a:latin typeface="Arimo" pitchFamily="34" charset="0"/>
                <a:ea typeface="Arimo" pitchFamily="34" charset="-122"/>
                <a:cs typeface="Arimo" pitchFamily="34" charset="-120"/>
              </a:rPr>
              <a:t>Klasyfikacja odpowiada „co to jest”, regresja odpowiada „ile”. To dwa najczęstsze typy zadań rozwiązywanych przez sieci neuronowe.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478797"/>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231971"/>
                </a:solidFill>
                <a:latin typeface="Outfit ExtraBold" pitchFamily="34" charset="0"/>
                <a:ea typeface="Outfit ExtraBold" pitchFamily="34" charset="-122"/>
                <a:cs typeface="Outfit ExtraBold" pitchFamily="34" charset="-120"/>
              </a:rPr>
              <a:t>Ograniczenia sieci neuronowych</a:t>
            </a:r>
            <a:endParaRPr lang="en-US" sz="3250" dirty="0"/>
          </a:p>
        </p:txBody>
      </p:sp>
      <p:sp>
        <p:nvSpPr>
          <p:cNvPr id="3" name="Text 1"/>
          <p:cNvSpPr/>
          <p:nvPr/>
        </p:nvSpPr>
        <p:spPr>
          <a:xfrm>
            <a:off x="661475" y="1303040"/>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2A2742"/>
                </a:solidFill>
                <a:latin typeface="Arimo" pitchFamily="34" charset="0"/>
                <a:ea typeface="Arimo" pitchFamily="34" charset="-122"/>
                <a:cs typeface="Arimo" pitchFamily="34" charset="-120"/>
              </a:rPr>
              <a:t>Sieci neuronowe to potężne narzędzia, ale mają swoje ograniczenia, o których warto pamiętać.</a:t>
            </a:r>
            <a:endParaRPr lang="en-US" sz="13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753691"/>
            <a:ext cx="5351725" cy="1751707"/>
          </a:xfrm>
          <a:prstGeom prst="rect">
            <a:avLst/>
          </a:prstGeom>
        </p:spPr>
      </p:pic>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13317" y="1893491"/>
            <a:ext cx="248041" cy="248047"/>
          </a:xfrm>
          <a:prstGeom prst="rect">
            <a:avLst/>
          </a:prstGeom>
        </p:spPr>
      </p:pic>
      <p:sp>
        <p:nvSpPr>
          <p:cNvPr id="6" name="Text 2"/>
          <p:cNvSpPr/>
          <p:nvPr/>
        </p:nvSpPr>
        <p:spPr>
          <a:xfrm>
            <a:off x="845819" y="2434134"/>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Zapotrzebowanie na dane</a:t>
            </a:r>
            <a:endParaRPr lang="en-US" sz="1600" dirty="0"/>
          </a:p>
        </p:txBody>
      </p:sp>
      <p:sp>
        <p:nvSpPr>
          <p:cNvPr id="7" name="Text 3"/>
          <p:cNvSpPr/>
          <p:nvPr/>
        </p:nvSpPr>
        <p:spPr>
          <a:xfrm>
            <a:off x="845819" y="2791817"/>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A2742"/>
                </a:solidFill>
                <a:latin typeface="Arimo" pitchFamily="34" charset="0"/>
                <a:ea typeface="Arimo" pitchFamily="34" charset="-122"/>
                <a:cs typeface="Arimo" pitchFamily="34" charset="-120"/>
              </a:rPr>
              <a:t>Wymagają ogromnych zbiorów danych treningowych (tysiące, miliony przykładów), podczas gdy człowiek uczy się na niewielu.</a:t>
            </a:r>
            <a:endParaRPr lang="en-US" sz="130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78495" y="1753691"/>
            <a:ext cx="5351725" cy="1751707"/>
          </a:xfrm>
          <a:prstGeom prst="rect">
            <a:avLst/>
          </a:prstGeom>
        </p:spPr>
      </p:pic>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30337" y="1893491"/>
            <a:ext cx="248041" cy="248047"/>
          </a:xfrm>
          <a:prstGeom prst="rect">
            <a:avLst/>
          </a:prstGeom>
        </p:spPr>
      </p:pic>
      <p:sp>
        <p:nvSpPr>
          <p:cNvPr id="10" name="Text 4"/>
          <p:cNvSpPr/>
          <p:nvPr/>
        </p:nvSpPr>
        <p:spPr>
          <a:xfrm>
            <a:off x="6362838" y="2434134"/>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Brak wyjaśnialności</a:t>
            </a:r>
            <a:endParaRPr lang="en-US" sz="1600" dirty="0"/>
          </a:p>
        </p:txBody>
      </p:sp>
      <p:sp>
        <p:nvSpPr>
          <p:cNvPr id="11" name="Text 5"/>
          <p:cNvSpPr/>
          <p:nvPr/>
        </p:nvSpPr>
        <p:spPr>
          <a:xfrm>
            <a:off x="6362838" y="2791817"/>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A2742"/>
                </a:solidFill>
                <a:latin typeface="Arimo" pitchFamily="34" charset="0"/>
                <a:ea typeface="Arimo" pitchFamily="34" charset="-122"/>
                <a:cs typeface="Arimo" pitchFamily="34" charset="-120"/>
              </a:rPr>
              <a:t>Często nie potrafią uzasadnić swoich decyzji ("czarna skrzynka"), co jest problemem w krytycznych zastosowaniach (np. medycyna).</a:t>
            </a:r>
            <a:endParaRPr lang="en-US" sz="1300" dirty="0"/>
          </a:p>
        </p:txBody>
      </p:sp>
      <p:pic>
        <p:nvPicPr>
          <p:cNvPr id="1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3670697"/>
            <a:ext cx="5351725" cy="2016323"/>
          </a:xfrm>
          <a:prstGeom prst="rect">
            <a:avLst/>
          </a:prstGeom>
        </p:spPr>
      </p:pic>
      <p:pic>
        <p:nvPicPr>
          <p:cNvPr id="1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213317" y="3810496"/>
            <a:ext cx="248041" cy="248047"/>
          </a:xfrm>
          <a:prstGeom prst="rect">
            <a:avLst/>
          </a:prstGeom>
        </p:spPr>
      </p:pic>
      <p:sp>
        <p:nvSpPr>
          <p:cNvPr id="14" name="Text 6"/>
          <p:cNvSpPr/>
          <p:nvPr/>
        </p:nvSpPr>
        <p:spPr>
          <a:xfrm>
            <a:off x="845819" y="4351139"/>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Pewność, która myli</a:t>
            </a:r>
            <a:endParaRPr lang="en-US" sz="1600" dirty="0"/>
          </a:p>
        </p:txBody>
      </p:sp>
      <p:sp>
        <p:nvSpPr>
          <p:cNvPr id="15" name="Text 7"/>
          <p:cNvSpPr/>
          <p:nvPr/>
        </p:nvSpPr>
        <p:spPr>
          <a:xfrm>
            <a:off x="845819" y="4708823"/>
            <a:ext cx="4983038"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A2742"/>
                </a:solidFill>
                <a:latin typeface="Arimo" pitchFamily="34" charset="0"/>
                <a:ea typeface="Arimo" pitchFamily="34" charset="-122"/>
                <a:cs typeface="Arimo" pitchFamily="34" charset="-120"/>
              </a:rPr>
              <a:t>Wysokie prawdopodobieństwo wyniku nie oznacza jego bezwzględnej poprawności, zwłaszcza w obliczu nowych, nieznanych danych.</a:t>
            </a:r>
            <a:endParaRPr lang="en-US" sz="1300" dirty="0"/>
          </a:p>
        </p:txBody>
      </p:sp>
      <p:pic>
        <p:nvPicPr>
          <p:cNvPr id="1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178495" y="3670697"/>
            <a:ext cx="5351725" cy="2016323"/>
          </a:xfrm>
          <a:prstGeom prst="rect">
            <a:avLst/>
          </a:prstGeom>
        </p:spPr>
      </p:pic>
      <p:pic>
        <p:nvPicPr>
          <p:cNvPr id="17"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730337" y="3810496"/>
            <a:ext cx="248041" cy="248047"/>
          </a:xfrm>
          <a:prstGeom prst="rect">
            <a:avLst/>
          </a:prstGeom>
        </p:spPr>
      </p:pic>
      <p:sp>
        <p:nvSpPr>
          <p:cNvPr id="18" name="Text 8"/>
          <p:cNvSpPr/>
          <p:nvPr/>
        </p:nvSpPr>
        <p:spPr>
          <a:xfrm>
            <a:off x="6362838" y="4351139"/>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2A2742"/>
                </a:solidFill>
                <a:latin typeface="Outfit ExtraBold" pitchFamily="34" charset="0"/>
                <a:ea typeface="Outfit ExtraBold" pitchFamily="34" charset="-122"/>
                <a:cs typeface="Outfit ExtraBold" pitchFamily="34" charset="-120"/>
              </a:rPr>
              <a:t>Brak rozumowania</a:t>
            </a:r>
            <a:endParaRPr lang="en-US" sz="1600" dirty="0"/>
          </a:p>
        </p:txBody>
      </p:sp>
      <p:sp>
        <p:nvSpPr>
          <p:cNvPr id="19" name="Text 9"/>
          <p:cNvSpPr/>
          <p:nvPr/>
        </p:nvSpPr>
        <p:spPr>
          <a:xfrm>
            <a:off x="6362838" y="4708823"/>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A2742"/>
                </a:solidFill>
                <a:latin typeface="Arimo" pitchFamily="34" charset="0"/>
                <a:ea typeface="Arimo" pitchFamily="34" charset="-122"/>
                <a:cs typeface="Arimo" pitchFamily="34" charset="-120"/>
              </a:rPr>
              <a:t>Nie mają wiedzy o świecie ani logicznego myślenia; ich "inteligencja" sprowadza się do optymalizacji liczbowej.</a:t>
            </a:r>
            <a:endParaRPr lang="en-US" sz="1300" dirty="0"/>
          </a:p>
        </p:txBody>
      </p:sp>
      <p:sp>
        <p:nvSpPr>
          <p:cNvPr id="20" name="Text 10"/>
          <p:cNvSpPr/>
          <p:nvPr/>
        </p:nvSpPr>
        <p:spPr>
          <a:xfrm>
            <a:off x="661475" y="5873055"/>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A2742"/>
                </a:solidFill>
                <a:latin typeface="Arimo" pitchFamily="34" charset="0"/>
                <a:ea typeface="Arimo" pitchFamily="34" charset="-122"/>
                <a:cs typeface="Arimo" pitchFamily="34" charset="-120"/>
              </a:rPr>
              <a:t>Wniosek: sieci neuronowe są skuteczne w konkretnych, dobrze zdefiniowanych zadaniach. Nie zastępują jednak myślenia ani odpowiedzialności człowieka.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2002830"/>
          </a:xfrm>
          <a:prstGeom prst="rect">
            <a:avLst/>
          </a:prstGeom>
        </p:spPr>
      </p:pic>
      <p:sp>
        <p:nvSpPr>
          <p:cNvPr id="3" name="Text 0"/>
          <p:cNvSpPr/>
          <p:nvPr/>
        </p:nvSpPr>
        <p:spPr>
          <a:xfrm>
            <a:off x="661475" y="2554027"/>
            <a:ext cx="10868745" cy="500658"/>
          </a:xfrm>
          <a:prstGeom prst="rect">
            <a:avLst/>
          </a:prstGeom>
          <a:noFill/>
          <a:ln/>
        </p:spPr>
        <p:txBody>
          <a:bodyPr wrap="none" lIns="0" tIns="0" rIns="0" bIns="0" rtlCol="0" anchor="t"/>
          <a:lstStyle/>
          <a:p>
            <a:pPr algn="l" indent="0" marL="0">
              <a:lnSpc>
                <a:spcPct val="104000"/>
              </a:lnSpc>
              <a:buNone/>
            </a:pPr>
            <a:r>
              <a:rPr lang="en-US" sz="3150" dirty="0">
                <a:solidFill>
                  <a:srgbClr val="231971"/>
                </a:solidFill>
                <a:latin typeface="Outfit ExtraBold" pitchFamily="34" charset="0"/>
                <a:ea typeface="Outfit ExtraBold" pitchFamily="34" charset="-122"/>
                <a:cs typeface="Outfit ExtraBold" pitchFamily="34" charset="-120"/>
              </a:rPr>
              <a:t>Mini-batch — nauka w porcjach</a:t>
            </a:r>
            <a:endParaRPr lang="en-US" sz="3150" dirty="0"/>
          </a:p>
        </p:txBody>
      </p:sp>
      <p:sp>
        <p:nvSpPr>
          <p:cNvPr id="4" name="Text 1"/>
          <p:cNvSpPr/>
          <p:nvPr/>
        </p:nvSpPr>
        <p:spPr>
          <a:xfrm>
            <a:off x="661475" y="3263404"/>
            <a:ext cx="10868745" cy="504627"/>
          </a:xfrm>
          <a:prstGeom prst="rect">
            <a:avLst/>
          </a:prstGeom>
          <a:noFill/>
          <a:ln/>
        </p:spPr>
        <p:txBody>
          <a:bodyPr wrap="square" lIns="0" tIns="0" rIns="0" bIns="0" rtlCol="0" anchor="t">
            <a:normAutofit/>
          </a:bodyPr>
          <a:lstStyle/>
          <a:p>
            <a:pPr algn="l" indent="0" marL="0">
              <a:lnSpc>
                <a:spcPct val="131000"/>
              </a:lnSpc>
              <a:buNone/>
            </a:pPr>
            <a:r>
              <a:rPr lang="en-US" sz="1250" dirty="0">
                <a:solidFill>
                  <a:srgbClr val="2A2742"/>
                </a:solidFill>
                <a:latin typeface="Arimo" pitchFamily="34" charset="0"/>
                <a:ea typeface="Arimo" pitchFamily="34" charset="-122"/>
                <a:cs typeface="Arimo" pitchFamily="34" charset="-120"/>
              </a:rPr>
              <a:t>Wyobraź sobie, że musisz nauczyć się z podręcznika liczącego 10 000 stron. Możesz przeczytać go w całości i dopiero wtedy zacząć ćwiczyć. Możesz też ćwiczyć po każdej pojedynczej stronie. Albo możesz przeczytać rozdział, poćwiczyć, przeczytać kolejny — i tak dalej.</a:t>
            </a:r>
            <a:endParaRPr lang="en-US" sz="125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3942556"/>
            <a:ext cx="3519399" cy="1709043"/>
          </a:xfrm>
          <a:prstGeom prst="rect">
            <a:avLst/>
          </a:prstGeom>
        </p:spPr>
      </p:pic>
      <p:sp>
        <p:nvSpPr>
          <p:cNvPr id="6" name="Text 2"/>
          <p:cNvSpPr/>
          <p:nvPr/>
        </p:nvSpPr>
        <p:spPr>
          <a:xfrm>
            <a:off x="916858" y="4121745"/>
            <a:ext cx="3084832" cy="250329"/>
          </a:xfrm>
          <a:prstGeom prst="rect">
            <a:avLst/>
          </a:prstGeom>
          <a:noFill/>
          <a:ln/>
        </p:spPr>
        <p:txBody>
          <a:bodyPr wrap="none" lIns="0" tIns="0" rIns="0" bIns="0" rtlCol="0" anchor="t"/>
          <a:lstStyle/>
          <a:p>
            <a:pPr algn="l" indent="0" marL="0">
              <a:lnSpc>
                <a:spcPct val="104000"/>
              </a:lnSpc>
              <a:buNone/>
            </a:pPr>
            <a:r>
              <a:rPr lang="en-US" sz="1550" dirty="0">
                <a:solidFill>
                  <a:srgbClr val="2A2742"/>
                </a:solidFill>
                <a:latin typeface="Outfit ExtraBold" pitchFamily="34" charset="0"/>
                <a:ea typeface="Outfit ExtraBold" pitchFamily="34" charset="-122"/>
                <a:cs typeface="Outfit ExtraBold" pitchFamily="34" charset="-120"/>
              </a:rPr>
              <a:t>1. Cały podręcznik na raz</a:t>
            </a:r>
            <a:endParaRPr lang="en-US" sz="1550" dirty="0"/>
          </a:p>
        </p:txBody>
      </p:sp>
      <p:sp>
        <p:nvSpPr>
          <p:cNvPr id="7" name="Text 3"/>
          <p:cNvSpPr/>
          <p:nvPr/>
        </p:nvSpPr>
        <p:spPr>
          <a:xfrm>
            <a:off x="916858" y="4465141"/>
            <a:ext cx="3084832" cy="756940"/>
          </a:xfrm>
          <a:prstGeom prst="rect">
            <a:avLst/>
          </a:prstGeom>
          <a:noFill/>
          <a:ln/>
        </p:spPr>
        <p:txBody>
          <a:bodyPr wrap="square" lIns="0" tIns="0" rIns="0" bIns="0" rtlCol="0" anchor="t">
            <a:normAutofit/>
          </a:bodyPr>
          <a:lstStyle/>
          <a:p>
            <a:pPr algn="l" indent="0" marL="0">
              <a:lnSpc>
                <a:spcPct val="131000"/>
              </a:lnSpc>
              <a:buNone/>
            </a:pPr>
            <a:r>
              <a:rPr lang="en-US" sz="1250" dirty="0">
                <a:solidFill>
                  <a:srgbClr val="2A2742"/>
                </a:solidFill>
                <a:latin typeface="Arimo" pitchFamily="34" charset="0"/>
                <a:ea typeface="Arimo" pitchFamily="34" charset="-122"/>
                <a:cs typeface="Arimo" pitchFamily="34" charset="-120"/>
              </a:rPr>
              <a:t>Nauka na całym zbiorze danych naraz wymagałaby ogromnej pamięci i byłaby nieefektywna.</a:t>
            </a:r>
            <a:endParaRPr lang="en-US" sz="125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36049" y="3942556"/>
            <a:ext cx="3519499" cy="1709043"/>
          </a:xfrm>
          <a:prstGeom prst="rect">
            <a:avLst/>
          </a:prstGeom>
        </p:spPr>
      </p:pic>
      <p:sp>
        <p:nvSpPr>
          <p:cNvPr id="9" name="Text 4"/>
          <p:cNvSpPr/>
          <p:nvPr/>
        </p:nvSpPr>
        <p:spPr>
          <a:xfrm>
            <a:off x="4591431" y="4121745"/>
            <a:ext cx="3084931" cy="250329"/>
          </a:xfrm>
          <a:prstGeom prst="rect">
            <a:avLst/>
          </a:prstGeom>
          <a:noFill/>
          <a:ln/>
        </p:spPr>
        <p:txBody>
          <a:bodyPr wrap="none" lIns="0" tIns="0" rIns="0" bIns="0" rtlCol="0" anchor="t"/>
          <a:lstStyle/>
          <a:p>
            <a:pPr algn="l" indent="0" marL="0">
              <a:lnSpc>
                <a:spcPct val="104000"/>
              </a:lnSpc>
              <a:buNone/>
            </a:pPr>
            <a:r>
              <a:rPr lang="en-US" sz="1550" dirty="0">
                <a:solidFill>
                  <a:srgbClr val="2A2742"/>
                </a:solidFill>
                <a:latin typeface="Outfit ExtraBold" pitchFamily="34" charset="0"/>
                <a:ea typeface="Outfit ExtraBold" pitchFamily="34" charset="-122"/>
                <a:cs typeface="Outfit ExtraBold" pitchFamily="34" charset="-120"/>
              </a:rPr>
              <a:t>2. Jedna strona na raz</a:t>
            </a:r>
            <a:endParaRPr lang="en-US" sz="1550" dirty="0"/>
          </a:p>
        </p:txBody>
      </p:sp>
      <p:sp>
        <p:nvSpPr>
          <p:cNvPr id="10" name="Text 5"/>
          <p:cNvSpPr/>
          <p:nvPr/>
        </p:nvSpPr>
        <p:spPr>
          <a:xfrm>
            <a:off x="4591431" y="4465141"/>
            <a:ext cx="3084931" cy="756940"/>
          </a:xfrm>
          <a:prstGeom prst="rect">
            <a:avLst/>
          </a:prstGeom>
          <a:noFill/>
          <a:ln/>
        </p:spPr>
        <p:txBody>
          <a:bodyPr wrap="square" lIns="0" tIns="0" rIns="0" bIns="0" rtlCol="0" anchor="t">
            <a:normAutofit/>
          </a:bodyPr>
          <a:lstStyle/>
          <a:p>
            <a:pPr algn="l" indent="0" marL="0">
              <a:lnSpc>
                <a:spcPct val="131000"/>
              </a:lnSpc>
              <a:buNone/>
            </a:pPr>
            <a:r>
              <a:rPr lang="en-US" sz="1250" dirty="0">
                <a:solidFill>
                  <a:srgbClr val="2A2742"/>
                </a:solidFill>
                <a:latin typeface="Arimo" pitchFamily="34" charset="0"/>
                <a:ea typeface="Arimo" pitchFamily="34" charset="-122"/>
                <a:cs typeface="Arimo" pitchFamily="34" charset="-120"/>
              </a:rPr>
              <a:t>Uczenie się po jednym przykładzie prowadzi do skokowych i niestabilnych aktualizacji wag.</a:t>
            </a:r>
            <a:endParaRPr lang="en-US" sz="125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10721" y="3942556"/>
            <a:ext cx="3519499" cy="1709043"/>
          </a:xfrm>
          <a:prstGeom prst="rect">
            <a:avLst/>
          </a:prstGeom>
        </p:spPr>
      </p:pic>
      <p:sp>
        <p:nvSpPr>
          <p:cNvPr id="12" name="Text 6"/>
          <p:cNvSpPr/>
          <p:nvPr/>
        </p:nvSpPr>
        <p:spPr>
          <a:xfrm>
            <a:off x="8266104" y="4121745"/>
            <a:ext cx="3084931" cy="500658"/>
          </a:xfrm>
          <a:prstGeom prst="rect">
            <a:avLst/>
          </a:prstGeom>
          <a:noFill/>
          <a:ln/>
        </p:spPr>
        <p:txBody>
          <a:bodyPr wrap="square" lIns="0" tIns="0" rIns="0" bIns="0" rtlCol="0" anchor="t">
            <a:normAutofit/>
          </a:bodyPr>
          <a:lstStyle/>
          <a:p>
            <a:pPr algn="l" indent="0" marL="0">
              <a:lnSpc>
                <a:spcPct val="104000"/>
              </a:lnSpc>
              <a:buNone/>
            </a:pPr>
            <a:r>
              <a:rPr lang="en-US" sz="1550" dirty="0">
                <a:solidFill>
                  <a:srgbClr val="2A2742"/>
                </a:solidFill>
                <a:latin typeface="Outfit ExtraBold" pitchFamily="34" charset="0"/>
                <a:ea typeface="Outfit ExtraBold" pitchFamily="34" charset="-122"/>
                <a:cs typeface="Outfit ExtraBold" pitchFamily="34" charset="-120"/>
              </a:rPr>
              <a:t>3. Rozdział po rozdziale (Mini-batch)</a:t>
            </a:r>
            <a:endParaRPr lang="en-US" sz="1550" dirty="0"/>
          </a:p>
        </p:txBody>
      </p:sp>
      <p:sp>
        <p:nvSpPr>
          <p:cNvPr id="13" name="Text 7"/>
          <p:cNvSpPr/>
          <p:nvPr/>
        </p:nvSpPr>
        <p:spPr>
          <a:xfrm>
            <a:off x="8266104" y="4715470"/>
            <a:ext cx="3084931" cy="756940"/>
          </a:xfrm>
          <a:prstGeom prst="rect">
            <a:avLst/>
          </a:prstGeom>
          <a:noFill/>
          <a:ln/>
        </p:spPr>
        <p:txBody>
          <a:bodyPr wrap="square" lIns="0" tIns="0" rIns="0" bIns="0" rtlCol="0" anchor="t">
            <a:normAutofit/>
          </a:bodyPr>
          <a:lstStyle/>
          <a:p>
            <a:pPr algn="l" indent="0" marL="0">
              <a:lnSpc>
                <a:spcPct val="131000"/>
              </a:lnSpc>
              <a:buNone/>
            </a:pPr>
            <a:r>
              <a:rPr lang="en-US" sz="1250" dirty="0">
                <a:solidFill>
                  <a:srgbClr val="2A2742"/>
                </a:solidFill>
                <a:latin typeface="Arimo" pitchFamily="34" charset="0"/>
                <a:ea typeface="Arimo" pitchFamily="34" charset="-122"/>
                <a:cs typeface="Arimo" pitchFamily="34" charset="-120"/>
              </a:rPr>
              <a:t>Najbardziej rozsądne podejście: dzielimy dane na małe porcje (np. 32-64 przykłady), na których sieć uczy się stopniowo.</a:t>
            </a:r>
            <a:endParaRPr lang="en-US" sz="1250" dirty="0"/>
          </a:p>
        </p:txBody>
      </p:sp>
      <p:sp>
        <p:nvSpPr>
          <p:cNvPr id="14" name="Text 8"/>
          <p:cNvSpPr/>
          <p:nvPr/>
        </p:nvSpPr>
        <p:spPr>
          <a:xfrm>
            <a:off x="661475" y="5826125"/>
            <a:ext cx="10868745" cy="504627"/>
          </a:xfrm>
          <a:prstGeom prst="rect">
            <a:avLst/>
          </a:prstGeom>
          <a:noFill/>
          <a:ln/>
        </p:spPr>
        <p:txBody>
          <a:bodyPr wrap="square" lIns="0" tIns="0" rIns="0" bIns="0" rtlCol="0" anchor="t">
            <a:normAutofit/>
          </a:bodyPr>
          <a:lstStyle/>
          <a:p>
            <a:pPr algn="l" indent="0" marL="0">
              <a:lnSpc>
                <a:spcPct val="131000"/>
              </a:lnSpc>
              <a:buNone/>
            </a:pPr>
            <a:r>
              <a:rPr lang="en-US" sz="1250" dirty="0">
                <a:solidFill>
                  <a:srgbClr val="2A2742"/>
                </a:solidFill>
                <a:latin typeface="Arimo" pitchFamily="34" charset="0"/>
                <a:ea typeface="Arimo" pitchFamily="34" charset="-122"/>
                <a:cs typeface="Arimo" pitchFamily="34" charset="-120"/>
              </a:rPr>
              <a:t>Sieć przetwarza jedną porcję, aktualizuje wagi, przechodzi do kolejnej. Jedno pełne przejście przez wszystkie porcje danych to jedna epoka. Mini-batch to praktyczny kompromis: wystarczająco dużo przykładów, żeby aktualizacja wag była sensowna, i wystarczająco mało, żeby proces był szybki i stabilny.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92255"/>
            <a:ext cx="6296860" cy="1033463"/>
          </a:xfrm>
          <a:prstGeom prst="rect">
            <a:avLst/>
          </a:prstGeom>
          <a:noFill/>
          <a:ln/>
        </p:spPr>
        <p:txBody>
          <a:bodyPr wrap="square" lIns="0" tIns="0" rIns="0" bIns="0" rtlCol="0" anchor="t">
            <a:normAutofit/>
          </a:bodyPr>
          <a:lstStyle/>
          <a:p>
            <a:pPr algn="l" indent="0" marL="0">
              <a:lnSpc>
                <a:spcPct val="104000"/>
              </a:lnSpc>
              <a:buNone/>
            </a:pPr>
            <a:r>
              <a:rPr lang="en-US" sz="3250" dirty="0">
                <a:solidFill>
                  <a:srgbClr val="231971"/>
                </a:solidFill>
                <a:latin typeface="Outfit ExtraBold" pitchFamily="34" charset="0"/>
                <a:ea typeface="Outfit ExtraBold" pitchFamily="34" charset="-122"/>
                <a:cs typeface="Outfit ExtraBold" pitchFamily="34" charset="-120"/>
              </a:rPr>
              <a:t>Co się dzieje z wytrenowanym modelem?</a:t>
            </a:r>
            <a:endParaRPr lang="en-US" sz="3250" dirty="0"/>
          </a:p>
        </p:txBody>
      </p:sp>
      <p:sp>
        <p:nvSpPr>
          <p:cNvPr id="4" name="Text 1"/>
          <p:cNvSpPr/>
          <p:nvPr/>
        </p:nvSpPr>
        <p:spPr>
          <a:xfrm>
            <a:off x="661475" y="3050580"/>
            <a:ext cx="6296860" cy="2038350"/>
          </a:xfrm>
          <a:prstGeom prst="rect">
            <a:avLst/>
          </a:prstGeom>
          <a:noFill/>
          <a:ln/>
        </p:spPr>
        <p:txBody>
          <a:bodyPr wrap="square" lIns="0" tIns="0" rIns="0" bIns="0" rtlCol="0" anchor="t">
            <a:normAutofit/>
          </a:bodyPr>
          <a:lstStyle/>
          <a:p>
            <a:pPr algn="l" indent="0" marL="0">
              <a:lnSpc>
                <a:spcPct val="133000"/>
              </a:lnSpc>
              <a:spcAft>
                <a:spcPts val="1450"/>
              </a:spcAft>
              <a:buNone/>
            </a:pPr>
            <a:r>
              <a:rPr lang="en-US" sz="1300" dirty="0">
                <a:solidFill>
                  <a:srgbClr val="2A2742"/>
                </a:solidFill>
                <a:latin typeface="Arimo" pitchFamily="34" charset="0"/>
                <a:ea typeface="Arimo" pitchFamily="34" charset="-122"/>
                <a:cs typeface="Arimo" pitchFamily="34" charset="-120"/>
              </a:rPr>
              <a:t>Gdy sieć neuronowa osiąga dobre wyniki na danych testowych, trening zostaje zakończony. Wagi i biasy wszystkich neuronów są zapisywane do pliku, tworząc </a:t>
            </a:r>
            <a:pPr algn="l" indent="0" marL="0">
              <a:lnSpc>
                <a:spcPct val="133000"/>
              </a:lnSpc>
              <a:spcAft>
                <a:spcPts val="1450"/>
              </a:spcAft>
              <a:buNone/>
            </a:pPr>
            <a:r>
              <a:rPr lang="en-US" sz="1300" b="1" dirty="0">
                <a:solidFill>
                  <a:srgbClr val="2A2742"/>
                </a:solidFill>
                <a:latin typeface="Arimo Bold" pitchFamily="34" charset="0"/>
                <a:ea typeface="Arimo Bold" pitchFamily="34" charset="-122"/>
                <a:cs typeface="Arimo Bold" pitchFamily="34" charset="-120"/>
              </a:rPr>
              <a:t>gotowy model</a:t>
            </a:r>
            <a:pPr algn="l" indent="0" marL="0">
              <a:lnSpc>
                <a:spcPct val="133000"/>
              </a:lnSpc>
              <a:spcAft>
                <a:spcPts val="1450"/>
              </a:spcAft>
              <a:buNone/>
            </a:pPr>
            <a:r>
              <a:rPr lang="en-US" sz="1300" dirty="0">
                <a:solidFill>
                  <a:srgbClr val="2A2742"/>
                </a:solidFill>
                <a:latin typeface="Arimo" pitchFamily="34" charset="0"/>
                <a:ea typeface="Arimo" pitchFamily="34" charset="-122"/>
                <a:cs typeface="Arimo" pitchFamily="34" charset="-120"/>
              </a:rPr>
              <a:t>.</a:t>
            </a:r>
            <a:endParaRPr lang="en-US" sz="1300" dirty="0"/>
          </a:p>
          <a:p>
            <a:pPr algn="l" indent="0" marL="0">
              <a:lnSpc>
                <a:spcPct val="133000"/>
              </a:lnSpc>
              <a:buNone/>
            </a:pPr>
            <a:r>
              <a:rPr lang="en-US" sz="1300" dirty="0">
                <a:solidFill>
                  <a:srgbClr val="2A2742"/>
                </a:solidFill>
                <a:latin typeface="Arimo" pitchFamily="34" charset="0"/>
                <a:ea typeface="Arimo" pitchFamily="34" charset="-122"/>
                <a:cs typeface="Arimo" pitchFamily="34" charset="-120"/>
              </a:rPr>
              <a:t>Od tego momentu model nie potrzebuje już danych treningowych ani procesu uczenia. Jest gotowy do użycia, a jego działanie nazywamy </a:t>
            </a:r>
            <a:pPr algn="l" indent="0" marL="0">
              <a:lnSpc>
                <a:spcPct val="133000"/>
              </a:lnSpc>
              <a:buNone/>
            </a:pPr>
            <a:r>
              <a:rPr lang="en-US" sz="1300" b="1" dirty="0">
                <a:solidFill>
                  <a:srgbClr val="2A2742"/>
                </a:solidFill>
                <a:latin typeface="Arimo Bold" pitchFamily="34" charset="0"/>
                <a:ea typeface="Arimo Bold" pitchFamily="34" charset="-122"/>
                <a:cs typeface="Arimo Bold" pitchFamily="34" charset="-120"/>
              </a:rPr>
              <a:t>inferencją</a:t>
            </a:r>
            <a:pPr algn="l" indent="0" marL="0">
              <a:lnSpc>
                <a:spcPct val="133000"/>
              </a:lnSpc>
              <a:buNone/>
            </a:pPr>
            <a:r>
              <a:rPr lang="en-US" sz="1300" dirty="0">
                <a:solidFill>
                  <a:srgbClr val="2A2742"/>
                </a:solidFill>
                <a:latin typeface="Arimo" pitchFamily="34" charset="0"/>
                <a:ea typeface="Arimo" pitchFamily="34" charset="-122"/>
                <a:cs typeface="Arimo" pitchFamily="34" charset="-120"/>
              </a:rPr>
              <a:t>. Dane wejściowe przechodzą przez sieć, która zwraca wynik, ale </a:t>
            </a:r>
            <a:pPr algn="l" indent="0" marL="0">
              <a:lnSpc>
                <a:spcPct val="133000"/>
              </a:lnSpc>
              <a:buNone/>
            </a:pPr>
            <a:r>
              <a:rPr lang="en-US" sz="1300" b="1" dirty="0">
                <a:solidFill>
                  <a:srgbClr val="2A2742"/>
                </a:solidFill>
                <a:latin typeface="Arimo Bold" pitchFamily="34" charset="0"/>
                <a:ea typeface="Arimo Bold" pitchFamily="34" charset="-122"/>
                <a:cs typeface="Arimo Bold" pitchFamily="34" charset="-120"/>
              </a:rPr>
              <a:t>wagi się nie zmieniają</a:t>
            </a:r>
            <a:pPr algn="l" indent="0" marL="0">
              <a:lnSpc>
                <a:spcPct val="133000"/>
              </a:lnSpc>
              <a:buNone/>
            </a:pPr>
            <a:r>
              <a:rPr lang="en-US" sz="1300" dirty="0">
                <a:solidFill>
                  <a:srgbClr val="2A2742"/>
                </a:solidFill>
                <a:latin typeface="Arimo" pitchFamily="34" charset="0"/>
                <a:ea typeface="Arimo" pitchFamily="34" charset="-122"/>
                <a:cs typeface="Arimo" pitchFamily="34" charset="-120"/>
              </a:rPr>
              <a:t> – sieć już się nie uczy.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493604"/>
            <a:ext cx="6296860" cy="791369"/>
          </a:xfrm>
          <a:prstGeom prst="rect">
            <a:avLst/>
          </a:prstGeom>
          <a:noFill/>
          <a:ln/>
        </p:spPr>
        <p:txBody>
          <a:bodyPr wrap="square" lIns="0" tIns="0" rIns="0" bIns="0" rtlCol="0" anchor="t">
            <a:normAutofit/>
          </a:bodyPr>
          <a:lstStyle/>
          <a:p>
            <a:pPr algn="l" indent="0" marL="0">
              <a:lnSpc>
                <a:spcPct val="104000"/>
              </a:lnSpc>
              <a:buNone/>
            </a:pPr>
            <a:r>
              <a:rPr lang="en-US" sz="2450" dirty="0">
                <a:solidFill>
                  <a:srgbClr val="231971"/>
                </a:solidFill>
                <a:latin typeface="Outfit ExtraBold" pitchFamily="34" charset="0"/>
                <a:ea typeface="Outfit ExtraBold" pitchFamily="34" charset="-122"/>
                <a:cs typeface="Outfit ExtraBold" pitchFamily="34" charset="-120"/>
              </a:rPr>
              <a:t>Różnorodność architektur sieci neuronowych</a:t>
            </a:r>
            <a:endParaRPr lang="en-US" sz="2450" dirty="0"/>
          </a:p>
        </p:txBody>
      </p:sp>
      <p:sp>
        <p:nvSpPr>
          <p:cNvPr id="4" name="Text 1"/>
          <p:cNvSpPr/>
          <p:nvPr/>
        </p:nvSpPr>
        <p:spPr>
          <a:xfrm>
            <a:off x="5233360" y="1411784"/>
            <a:ext cx="6296860" cy="536377"/>
          </a:xfrm>
          <a:prstGeom prst="rect">
            <a:avLst/>
          </a:prstGeom>
          <a:noFill/>
          <a:ln/>
        </p:spPr>
        <p:txBody>
          <a:bodyPr wrap="square" lIns="0" tIns="0" rIns="0" bIns="0" rtlCol="0" anchor="t">
            <a:normAutofit/>
          </a:bodyPr>
          <a:lstStyle/>
          <a:p>
            <a:pPr algn="l" indent="0" marL="0">
              <a:lnSpc>
                <a:spcPct val="118000"/>
              </a:lnSpc>
              <a:buNone/>
            </a:pPr>
            <a:r>
              <a:rPr lang="en-US" sz="950" dirty="0">
                <a:solidFill>
                  <a:srgbClr val="2A2742"/>
                </a:solidFill>
                <a:latin typeface="Arimo" pitchFamily="34" charset="0"/>
                <a:ea typeface="Arimo" pitchFamily="34" charset="-122"/>
                <a:cs typeface="Arimo" pitchFamily="34" charset="-120"/>
              </a:rPr>
              <a:t>Świat sieci neuronowych jest niezwykle bogaty i różnorodny. Istnieje wiele typów architektur, z których każda została zaprojektowana do rozwiązywania konkretnych rodzajów problemów. Wybór odpowiedniej architektury jest kluczowy dla efektywności modelu.</a:t>
            </a:r>
            <a:endParaRPr lang="en-US" sz="95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057202"/>
            <a:ext cx="6296860" cy="892076"/>
          </a:xfrm>
          <a:prstGeom prst="rect">
            <a:avLst/>
          </a:prstGeom>
        </p:spPr>
      </p:pic>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01135" y="2408238"/>
            <a:ext cx="189900" cy="189905"/>
          </a:xfrm>
          <a:prstGeom prst="rect">
            <a:avLst/>
          </a:prstGeom>
        </p:spPr>
      </p:pic>
      <p:sp>
        <p:nvSpPr>
          <p:cNvPr id="7" name="Text 2"/>
          <p:cNvSpPr/>
          <p:nvPr/>
        </p:nvSpPr>
        <p:spPr>
          <a:xfrm>
            <a:off x="5849494" y="2196505"/>
            <a:ext cx="5541427" cy="197743"/>
          </a:xfrm>
          <a:prstGeom prst="rect">
            <a:avLst/>
          </a:prstGeom>
          <a:noFill/>
          <a:ln/>
        </p:spPr>
        <p:txBody>
          <a:bodyPr wrap="none" lIns="0" tIns="0" rIns="0" bIns="0" rtlCol="0" anchor="t"/>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Sieci "Feedforward" (MLP)</a:t>
            </a:r>
            <a:endParaRPr lang="en-US" sz="1200" dirty="0"/>
          </a:p>
        </p:txBody>
      </p:sp>
      <p:sp>
        <p:nvSpPr>
          <p:cNvPr id="8" name="Text 3"/>
          <p:cNvSpPr/>
          <p:nvPr/>
        </p:nvSpPr>
        <p:spPr>
          <a:xfrm>
            <a:off x="5849494" y="2452390"/>
            <a:ext cx="5541427" cy="357584"/>
          </a:xfrm>
          <a:prstGeom prst="rect">
            <a:avLst/>
          </a:prstGeom>
          <a:noFill/>
          <a:ln/>
        </p:spPr>
        <p:txBody>
          <a:bodyPr wrap="square" lIns="0" tIns="0" rIns="0" bIns="0" rtlCol="0" anchor="t">
            <a:normAutofit/>
          </a:bodyPr>
          <a:lstStyle/>
          <a:p>
            <a:pPr algn="l" indent="0" marL="0">
              <a:lnSpc>
                <a:spcPct val="118000"/>
              </a:lnSpc>
              <a:buNone/>
            </a:pPr>
            <a:r>
              <a:rPr lang="en-US" sz="950" dirty="0">
                <a:solidFill>
                  <a:srgbClr val="2A2742"/>
                </a:solidFill>
                <a:latin typeface="Arimo" pitchFamily="34" charset="0"/>
                <a:ea typeface="Arimo" pitchFamily="34" charset="-122"/>
                <a:cs typeface="Arimo" pitchFamily="34" charset="-120"/>
              </a:rPr>
              <a:t>Podstawowa architektura. Każda warstwa łączy się tylko z następną. Idealne do prostych zadań klasyfikacji i regresji.</a:t>
            </a:r>
            <a:endParaRPr lang="en-US" sz="950" dirty="0"/>
          </a:p>
        </p:txBody>
      </p:sp>
      <p:pic>
        <p:nvPicPr>
          <p:cNvPr id="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3046214"/>
            <a:ext cx="6296860" cy="892076"/>
          </a:xfrm>
          <a:prstGeom prst="rect">
            <a:avLst/>
          </a:prstGeom>
        </p:spPr>
      </p:pic>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401135" y="3397250"/>
            <a:ext cx="189900" cy="189905"/>
          </a:xfrm>
          <a:prstGeom prst="rect">
            <a:avLst/>
          </a:prstGeom>
        </p:spPr>
      </p:pic>
      <p:sp>
        <p:nvSpPr>
          <p:cNvPr id="11" name="Text 4"/>
          <p:cNvSpPr/>
          <p:nvPr/>
        </p:nvSpPr>
        <p:spPr>
          <a:xfrm>
            <a:off x="5849494" y="3185517"/>
            <a:ext cx="5541427" cy="197743"/>
          </a:xfrm>
          <a:prstGeom prst="rect">
            <a:avLst/>
          </a:prstGeom>
          <a:noFill/>
          <a:ln/>
        </p:spPr>
        <p:txBody>
          <a:bodyPr wrap="none" lIns="0" tIns="0" rIns="0" bIns="0" rtlCol="0" anchor="t"/>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Konwolucyjne (CNN)</a:t>
            </a:r>
            <a:endParaRPr lang="en-US" sz="1200" dirty="0"/>
          </a:p>
        </p:txBody>
      </p:sp>
      <p:sp>
        <p:nvSpPr>
          <p:cNvPr id="12" name="Text 5"/>
          <p:cNvSpPr/>
          <p:nvPr/>
        </p:nvSpPr>
        <p:spPr>
          <a:xfrm>
            <a:off x="5849494" y="3441402"/>
            <a:ext cx="5541427" cy="357584"/>
          </a:xfrm>
          <a:prstGeom prst="rect">
            <a:avLst/>
          </a:prstGeom>
          <a:noFill/>
          <a:ln/>
        </p:spPr>
        <p:txBody>
          <a:bodyPr wrap="square" lIns="0" tIns="0" rIns="0" bIns="0" rtlCol="0" anchor="t">
            <a:normAutofit/>
          </a:bodyPr>
          <a:lstStyle/>
          <a:p>
            <a:pPr algn="l" indent="0" marL="0">
              <a:lnSpc>
                <a:spcPct val="118000"/>
              </a:lnSpc>
              <a:buNone/>
            </a:pPr>
            <a:r>
              <a:rPr lang="en-US" sz="950" dirty="0">
                <a:solidFill>
                  <a:srgbClr val="2A2742"/>
                </a:solidFill>
                <a:latin typeface="Arimo" pitchFamily="34" charset="0"/>
                <a:ea typeface="Arimo" pitchFamily="34" charset="-122"/>
                <a:cs typeface="Arimo" pitchFamily="34" charset="-120"/>
              </a:rPr>
              <a:t>Specjalizują się w przetwarzaniu obrazów i wideo. Wykorzystują filtry do wykrywania wzorców i cech w danych wizualnych.</a:t>
            </a:r>
            <a:endParaRPr lang="en-US" sz="950" dirty="0"/>
          </a:p>
        </p:txBody>
      </p:sp>
      <p:pic>
        <p:nvPicPr>
          <p:cNvPr id="13"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33360" y="4035227"/>
            <a:ext cx="6296860" cy="892076"/>
          </a:xfrm>
          <a:prstGeom prst="rect">
            <a:avLst/>
          </a:prstGeom>
        </p:spPr>
      </p:pic>
      <p:pic>
        <p:nvPicPr>
          <p:cNvPr id="14"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401135" y="4386263"/>
            <a:ext cx="189900" cy="189905"/>
          </a:xfrm>
          <a:prstGeom prst="rect">
            <a:avLst/>
          </a:prstGeom>
        </p:spPr>
      </p:pic>
      <p:sp>
        <p:nvSpPr>
          <p:cNvPr id="15" name="Text 6"/>
          <p:cNvSpPr/>
          <p:nvPr/>
        </p:nvSpPr>
        <p:spPr>
          <a:xfrm>
            <a:off x="5849494" y="4174530"/>
            <a:ext cx="5541427" cy="197743"/>
          </a:xfrm>
          <a:prstGeom prst="rect">
            <a:avLst/>
          </a:prstGeom>
          <a:noFill/>
          <a:ln/>
        </p:spPr>
        <p:txBody>
          <a:bodyPr wrap="none" lIns="0" tIns="0" rIns="0" bIns="0" rtlCol="0" anchor="t"/>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Rekurencyjne (RNN/LSTM)</a:t>
            </a:r>
            <a:endParaRPr lang="en-US" sz="1200" dirty="0"/>
          </a:p>
        </p:txBody>
      </p:sp>
      <p:sp>
        <p:nvSpPr>
          <p:cNvPr id="16" name="Text 7"/>
          <p:cNvSpPr/>
          <p:nvPr/>
        </p:nvSpPr>
        <p:spPr>
          <a:xfrm>
            <a:off x="5849494" y="4430415"/>
            <a:ext cx="5541427" cy="357584"/>
          </a:xfrm>
          <a:prstGeom prst="rect">
            <a:avLst/>
          </a:prstGeom>
          <a:noFill/>
          <a:ln/>
        </p:spPr>
        <p:txBody>
          <a:bodyPr wrap="square" lIns="0" tIns="0" rIns="0" bIns="0" rtlCol="0" anchor="t">
            <a:normAutofit/>
          </a:bodyPr>
          <a:lstStyle/>
          <a:p>
            <a:pPr algn="l" indent="0" marL="0">
              <a:lnSpc>
                <a:spcPct val="118000"/>
              </a:lnSpc>
              <a:buNone/>
            </a:pPr>
            <a:r>
              <a:rPr lang="en-US" sz="950" dirty="0">
                <a:solidFill>
                  <a:srgbClr val="2A2742"/>
                </a:solidFill>
                <a:latin typeface="Arimo" pitchFamily="34" charset="0"/>
                <a:ea typeface="Arimo" pitchFamily="34" charset="-122"/>
                <a:cs typeface="Arimo" pitchFamily="34" charset="-120"/>
              </a:rPr>
              <a:t>Zaprojektowane do pracy z danymi sekwencyjnymi, takimi jak tekst, mowa czy szeregi czasowe. Mają "pamięć" o poprzednich krokach.</a:t>
            </a:r>
            <a:endParaRPr lang="en-US" sz="950" dirty="0"/>
          </a:p>
        </p:txBody>
      </p:sp>
      <p:pic>
        <p:nvPicPr>
          <p:cNvPr id="17" name="Image 7"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233360" y="5024239"/>
            <a:ext cx="6296860" cy="892076"/>
          </a:xfrm>
          <a:prstGeom prst="rect">
            <a:avLst/>
          </a:prstGeom>
        </p:spPr>
      </p:pic>
      <p:pic>
        <p:nvPicPr>
          <p:cNvPr id="18" name="Image 8" descr="preencoded.png">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401135" y="5375275"/>
            <a:ext cx="189900" cy="189905"/>
          </a:xfrm>
          <a:prstGeom prst="rect">
            <a:avLst/>
          </a:prstGeom>
        </p:spPr>
      </p:pic>
      <p:sp>
        <p:nvSpPr>
          <p:cNvPr id="19" name="Text 8"/>
          <p:cNvSpPr/>
          <p:nvPr/>
        </p:nvSpPr>
        <p:spPr>
          <a:xfrm>
            <a:off x="5849494" y="5163542"/>
            <a:ext cx="5541427" cy="197743"/>
          </a:xfrm>
          <a:prstGeom prst="rect">
            <a:avLst/>
          </a:prstGeom>
          <a:noFill/>
          <a:ln/>
        </p:spPr>
        <p:txBody>
          <a:bodyPr wrap="none" lIns="0" tIns="0" rIns="0" bIns="0" rtlCol="0" anchor="t"/>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Transformery</a:t>
            </a:r>
            <a:endParaRPr lang="en-US" sz="1200" dirty="0"/>
          </a:p>
        </p:txBody>
      </p:sp>
      <p:sp>
        <p:nvSpPr>
          <p:cNvPr id="20" name="Text 9"/>
          <p:cNvSpPr/>
          <p:nvPr/>
        </p:nvSpPr>
        <p:spPr>
          <a:xfrm>
            <a:off x="5849494" y="5419427"/>
            <a:ext cx="5541427" cy="357584"/>
          </a:xfrm>
          <a:prstGeom prst="rect">
            <a:avLst/>
          </a:prstGeom>
          <a:noFill/>
          <a:ln/>
        </p:spPr>
        <p:txBody>
          <a:bodyPr wrap="square" lIns="0" tIns="0" rIns="0" bIns="0" rtlCol="0" anchor="t">
            <a:normAutofit/>
          </a:bodyPr>
          <a:lstStyle/>
          <a:p>
            <a:pPr algn="l" indent="0" marL="0">
              <a:lnSpc>
                <a:spcPct val="118000"/>
              </a:lnSpc>
              <a:buNone/>
            </a:pPr>
            <a:r>
              <a:rPr lang="en-US" sz="950" dirty="0">
                <a:solidFill>
                  <a:srgbClr val="2A2742"/>
                </a:solidFill>
                <a:latin typeface="Arimo" pitchFamily="34" charset="0"/>
                <a:ea typeface="Arimo" pitchFamily="34" charset="-122"/>
                <a:cs typeface="Arimo" pitchFamily="34" charset="-120"/>
              </a:rPr>
              <a:t>Nowoczesna architektura dominująca w przetwarzaniu języka naturalnego (NLP). Używają mechanizmu uwagi (attention) do modelowania zależności na długich sekwencjach.</a:t>
            </a:r>
            <a:endParaRPr lang="en-US" sz="950" dirty="0"/>
          </a:p>
        </p:txBody>
      </p:sp>
      <p:sp>
        <p:nvSpPr>
          <p:cNvPr id="21" name="Text 10"/>
          <p:cNvSpPr/>
          <p:nvPr/>
        </p:nvSpPr>
        <p:spPr>
          <a:xfrm>
            <a:off x="5233360" y="6025356"/>
            <a:ext cx="6296860" cy="357584"/>
          </a:xfrm>
          <a:prstGeom prst="rect">
            <a:avLst/>
          </a:prstGeom>
          <a:noFill/>
          <a:ln/>
        </p:spPr>
        <p:txBody>
          <a:bodyPr wrap="square" lIns="0" tIns="0" rIns="0" bIns="0" rtlCol="0" anchor="t">
            <a:normAutofit/>
          </a:bodyPr>
          <a:lstStyle/>
          <a:p>
            <a:pPr algn="l" indent="0" marL="0">
              <a:lnSpc>
                <a:spcPct val="118000"/>
              </a:lnSpc>
              <a:buNone/>
            </a:pPr>
            <a:r>
              <a:rPr lang="en-US" sz="950" dirty="0">
                <a:solidFill>
                  <a:srgbClr val="2A2742"/>
                </a:solidFill>
                <a:latin typeface="Arimo" pitchFamily="34" charset="0"/>
                <a:ea typeface="Arimo" pitchFamily="34" charset="-122"/>
                <a:cs typeface="Arimo" pitchFamily="34" charset="-120"/>
              </a:rPr>
              <a:t>Ta różnorodność pozwala na dostosowanie sieci neuronowych do szerokiego zakresu wyzwań, od rozpoznawania obiektów na zdjęciach, przez generowanie tekstu, aż po przewidywanie trendów rynkowych.</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18356"/>
            <a:ext cx="10868745" cy="500658"/>
          </a:xfrm>
          <a:prstGeom prst="rect">
            <a:avLst/>
          </a:prstGeom>
          <a:noFill/>
          <a:ln/>
        </p:spPr>
        <p:txBody>
          <a:bodyPr wrap="none" lIns="0" tIns="0" rIns="0" bIns="0" rtlCol="0" anchor="t"/>
          <a:lstStyle/>
          <a:p>
            <a:pPr algn="l" indent="0" marL="0">
              <a:lnSpc>
                <a:spcPct val="104000"/>
              </a:lnSpc>
              <a:buNone/>
            </a:pPr>
            <a:r>
              <a:rPr lang="en-US" sz="3150" dirty="0">
                <a:solidFill>
                  <a:srgbClr val="231971"/>
                </a:solidFill>
                <a:latin typeface="Outfit ExtraBold" pitchFamily="34" charset="0"/>
                <a:ea typeface="Outfit ExtraBold" pitchFamily="34" charset="-122"/>
                <a:cs typeface="Outfit ExtraBold" pitchFamily="34" charset="-120"/>
              </a:rPr>
              <a:t>Typy sieci neuronowych</a:t>
            </a:r>
            <a:endParaRPr lang="en-US" sz="3150" dirty="0"/>
          </a:p>
        </p:txBody>
      </p:sp>
      <p:sp>
        <p:nvSpPr>
          <p:cNvPr id="3" name="Text 1"/>
          <p:cNvSpPr/>
          <p:nvPr/>
        </p:nvSpPr>
        <p:spPr>
          <a:xfrm>
            <a:off x="661475" y="1305322"/>
            <a:ext cx="10868745" cy="504627"/>
          </a:xfrm>
          <a:prstGeom prst="rect">
            <a:avLst/>
          </a:prstGeom>
          <a:noFill/>
          <a:ln/>
        </p:spPr>
        <p:txBody>
          <a:bodyPr wrap="square" lIns="0" tIns="0" rIns="0" bIns="0" rtlCol="0" anchor="t">
            <a:normAutofit/>
          </a:bodyPr>
          <a:lstStyle/>
          <a:p>
            <a:pPr algn="l" indent="0" marL="0">
              <a:lnSpc>
                <a:spcPct val="131000"/>
              </a:lnSpc>
              <a:buNone/>
            </a:pPr>
            <a:r>
              <a:rPr lang="en-US" sz="1250" dirty="0">
                <a:solidFill>
                  <a:srgbClr val="2A2742"/>
                </a:solidFill>
                <a:latin typeface="Arimo" pitchFamily="34" charset="0"/>
                <a:ea typeface="Arimo" pitchFamily="34" charset="-122"/>
                <a:cs typeface="Arimo" pitchFamily="34" charset="-120"/>
              </a:rPr>
              <a:t>Sieć, którą opisywaliśmy w tej prezentacji, to MLP. To dobry punkt startowy, ale w praktyce różne zadania wymagają różnych architektur. Poniżej przedstawiamy kluczowe typy.</a:t>
            </a:r>
            <a:endParaRPr lang="en-US" sz="12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984474"/>
            <a:ext cx="400536" cy="400546"/>
          </a:xfrm>
          <a:prstGeom prst="rect">
            <a:avLst/>
          </a:prstGeom>
        </p:spPr>
      </p:pic>
      <p:sp>
        <p:nvSpPr>
          <p:cNvPr id="5" name="Text 2"/>
          <p:cNvSpPr/>
          <p:nvPr/>
        </p:nvSpPr>
        <p:spPr>
          <a:xfrm>
            <a:off x="661475" y="2578993"/>
            <a:ext cx="5337339" cy="250329"/>
          </a:xfrm>
          <a:prstGeom prst="rect">
            <a:avLst/>
          </a:prstGeom>
          <a:noFill/>
          <a:ln/>
        </p:spPr>
        <p:txBody>
          <a:bodyPr wrap="none" lIns="0" tIns="0" rIns="0" bIns="0" rtlCol="0" anchor="t"/>
          <a:lstStyle/>
          <a:p>
            <a:pPr algn="l" indent="0" marL="0">
              <a:lnSpc>
                <a:spcPct val="104000"/>
              </a:lnSpc>
              <a:buNone/>
            </a:pPr>
            <a:r>
              <a:rPr lang="en-US" sz="1550" dirty="0">
                <a:solidFill>
                  <a:srgbClr val="2A2742"/>
                </a:solidFill>
                <a:latin typeface="Outfit ExtraBold" pitchFamily="34" charset="0"/>
                <a:ea typeface="Outfit ExtraBold" pitchFamily="34" charset="-122"/>
                <a:cs typeface="Outfit ExtraBold" pitchFamily="34" charset="-120"/>
              </a:rPr>
              <a:t>Sieci MLP (Feedforward)</a:t>
            </a:r>
            <a:endParaRPr lang="en-US" sz="1550" dirty="0"/>
          </a:p>
        </p:txBody>
      </p:sp>
      <p:sp>
        <p:nvSpPr>
          <p:cNvPr id="6" name="Text 3"/>
          <p:cNvSpPr/>
          <p:nvPr/>
        </p:nvSpPr>
        <p:spPr>
          <a:xfrm>
            <a:off x="661475" y="2922389"/>
            <a:ext cx="5337339" cy="756940"/>
          </a:xfrm>
          <a:prstGeom prst="rect">
            <a:avLst/>
          </a:prstGeom>
          <a:noFill/>
          <a:ln/>
        </p:spPr>
        <p:txBody>
          <a:bodyPr wrap="square" lIns="0" tIns="0" rIns="0" bIns="0" rtlCol="0" anchor="t">
            <a:normAutofit/>
          </a:bodyPr>
          <a:lstStyle/>
          <a:p>
            <a:pPr algn="l" indent="0" marL="0">
              <a:lnSpc>
                <a:spcPct val="131000"/>
              </a:lnSpc>
              <a:buNone/>
            </a:pPr>
            <a:r>
              <a:rPr lang="en-US" sz="1250" dirty="0">
                <a:solidFill>
                  <a:srgbClr val="2A2742"/>
                </a:solidFill>
                <a:latin typeface="Arimo" pitchFamily="34" charset="0"/>
                <a:ea typeface="Arimo" pitchFamily="34" charset="-122"/>
                <a:cs typeface="Arimo" pitchFamily="34" charset="-120"/>
              </a:rPr>
              <a:t>Podstawowa architektura, gdzie każdy neuron łączy się z każdym w następnej warstwie. Dobre do prostych zadań klasyfikacji i regresji, ale rzadko stosowane bezpośrednio do złożonych danych jak obrazy czy tekst.</a:t>
            </a:r>
            <a:endParaRPr lang="en-US" sz="12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2782" y="1984474"/>
            <a:ext cx="400536" cy="400546"/>
          </a:xfrm>
          <a:prstGeom prst="rect">
            <a:avLst/>
          </a:prstGeom>
        </p:spPr>
      </p:pic>
      <p:sp>
        <p:nvSpPr>
          <p:cNvPr id="8" name="Text 4"/>
          <p:cNvSpPr/>
          <p:nvPr/>
        </p:nvSpPr>
        <p:spPr>
          <a:xfrm>
            <a:off x="6192782" y="2578993"/>
            <a:ext cx="5337438" cy="250329"/>
          </a:xfrm>
          <a:prstGeom prst="rect">
            <a:avLst/>
          </a:prstGeom>
          <a:noFill/>
          <a:ln/>
        </p:spPr>
        <p:txBody>
          <a:bodyPr wrap="none" lIns="0" tIns="0" rIns="0" bIns="0" rtlCol="0" anchor="t"/>
          <a:lstStyle/>
          <a:p>
            <a:pPr algn="l" indent="0" marL="0">
              <a:lnSpc>
                <a:spcPct val="104000"/>
              </a:lnSpc>
              <a:buNone/>
            </a:pPr>
            <a:r>
              <a:rPr lang="en-US" sz="1550" dirty="0">
                <a:solidFill>
                  <a:srgbClr val="2A2742"/>
                </a:solidFill>
                <a:latin typeface="Outfit ExtraBold" pitchFamily="34" charset="0"/>
                <a:ea typeface="Outfit ExtraBold" pitchFamily="34" charset="-122"/>
                <a:cs typeface="Outfit ExtraBold" pitchFamily="34" charset="-120"/>
              </a:rPr>
              <a:t>Sieci Konwolucyjne (CNN)</a:t>
            </a:r>
            <a:endParaRPr lang="en-US" sz="1550" dirty="0"/>
          </a:p>
        </p:txBody>
      </p:sp>
      <p:sp>
        <p:nvSpPr>
          <p:cNvPr id="9" name="Text 5"/>
          <p:cNvSpPr/>
          <p:nvPr/>
        </p:nvSpPr>
        <p:spPr>
          <a:xfrm>
            <a:off x="6192782" y="2922389"/>
            <a:ext cx="5337438" cy="756940"/>
          </a:xfrm>
          <a:prstGeom prst="rect">
            <a:avLst/>
          </a:prstGeom>
          <a:noFill/>
          <a:ln/>
        </p:spPr>
        <p:txBody>
          <a:bodyPr wrap="square" lIns="0" tIns="0" rIns="0" bIns="0" rtlCol="0" anchor="t">
            <a:normAutofit/>
          </a:bodyPr>
          <a:lstStyle/>
          <a:p>
            <a:pPr algn="l" indent="0" marL="0">
              <a:lnSpc>
                <a:spcPct val="131000"/>
              </a:lnSpc>
              <a:buNone/>
            </a:pPr>
            <a:r>
              <a:rPr lang="en-US" sz="1250" dirty="0">
                <a:solidFill>
                  <a:srgbClr val="2A2742"/>
                </a:solidFill>
                <a:latin typeface="Arimo" pitchFamily="34" charset="0"/>
                <a:ea typeface="Arimo" pitchFamily="34" charset="-122"/>
                <a:cs typeface="Arimo" pitchFamily="34" charset="-120"/>
              </a:rPr>
              <a:t>Wykorzystują małe "okna" (filtry) do wykrywania lokalnych wzorców (krawędzi, kształtów) w obrazach i wideo. Niezastąpione w rozpoznawaniu obiektów, np. w Face ID.</a:t>
            </a:r>
            <a:endParaRPr lang="en-US" sz="12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89685"/>
            <a:ext cx="400536" cy="400546"/>
          </a:xfrm>
          <a:prstGeom prst="rect">
            <a:avLst/>
          </a:prstGeom>
        </p:spPr>
      </p:pic>
      <p:sp>
        <p:nvSpPr>
          <p:cNvPr id="11" name="Text 6"/>
          <p:cNvSpPr/>
          <p:nvPr/>
        </p:nvSpPr>
        <p:spPr>
          <a:xfrm>
            <a:off x="661475" y="4584204"/>
            <a:ext cx="5337339" cy="250329"/>
          </a:xfrm>
          <a:prstGeom prst="rect">
            <a:avLst/>
          </a:prstGeom>
          <a:noFill/>
          <a:ln/>
        </p:spPr>
        <p:txBody>
          <a:bodyPr wrap="none" lIns="0" tIns="0" rIns="0" bIns="0" rtlCol="0" anchor="t"/>
          <a:lstStyle/>
          <a:p>
            <a:pPr algn="l" indent="0" marL="0">
              <a:lnSpc>
                <a:spcPct val="104000"/>
              </a:lnSpc>
              <a:buNone/>
            </a:pPr>
            <a:r>
              <a:rPr lang="en-US" sz="1550" dirty="0">
                <a:solidFill>
                  <a:srgbClr val="2A2742"/>
                </a:solidFill>
                <a:latin typeface="Outfit ExtraBold" pitchFamily="34" charset="0"/>
                <a:ea typeface="Outfit ExtraBold" pitchFamily="34" charset="-122"/>
                <a:cs typeface="Outfit ExtraBold" pitchFamily="34" charset="-120"/>
              </a:rPr>
              <a:t>Sieci Rekurencyjne (RNN)</a:t>
            </a:r>
            <a:endParaRPr lang="en-US" sz="1550" dirty="0"/>
          </a:p>
        </p:txBody>
      </p:sp>
      <p:sp>
        <p:nvSpPr>
          <p:cNvPr id="12" name="Text 7"/>
          <p:cNvSpPr/>
          <p:nvPr/>
        </p:nvSpPr>
        <p:spPr>
          <a:xfrm>
            <a:off x="661475" y="4927600"/>
            <a:ext cx="5337339" cy="756940"/>
          </a:xfrm>
          <a:prstGeom prst="rect">
            <a:avLst/>
          </a:prstGeom>
          <a:noFill/>
          <a:ln/>
        </p:spPr>
        <p:txBody>
          <a:bodyPr wrap="square" lIns="0" tIns="0" rIns="0" bIns="0" rtlCol="0" anchor="t">
            <a:normAutofit/>
          </a:bodyPr>
          <a:lstStyle/>
          <a:p>
            <a:pPr algn="l" indent="0" marL="0">
              <a:lnSpc>
                <a:spcPct val="131000"/>
              </a:lnSpc>
              <a:buNone/>
            </a:pPr>
            <a:r>
              <a:rPr lang="en-US" sz="1250" dirty="0">
                <a:solidFill>
                  <a:srgbClr val="2A2742"/>
                </a:solidFill>
                <a:latin typeface="Arimo" pitchFamily="34" charset="0"/>
                <a:ea typeface="Arimo" pitchFamily="34" charset="-122"/>
                <a:cs typeface="Arimo" pitchFamily="34" charset="-120"/>
              </a:rPr>
              <a:t>Przetwarzają dane sekwencyjne, gdzie kolejność ma znaczenie (tekst, mowa, szeregi czasowe). Posiadają "pamięć" o poprzednich elementach, co pozwala im rozumieć kontekst w długich sekwencjach.</a:t>
            </a:r>
            <a:endParaRPr lang="en-US" sz="12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2782" y="3989685"/>
            <a:ext cx="400536" cy="400546"/>
          </a:xfrm>
          <a:prstGeom prst="rect">
            <a:avLst/>
          </a:prstGeom>
        </p:spPr>
      </p:pic>
      <p:sp>
        <p:nvSpPr>
          <p:cNvPr id="14" name="Text 8"/>
          <p:cNvSpPr/>
          <p:nvPr/>
        </p:nvSpPr>
        <p:spPr>
          <a:xfrm>
            <a:off x="6192782" y="4584204"/>
            <a:ext cx="5337438" cy="250329"/>
          </a:xfrm>
          <a:prstGeom prst="rect">
            <a:avLst/>
          </a:prstGeom>
          <a:noFill/>
          <a:ln/>
        </p:spPr>
        <p:txBody>
          <a:bodyPr wrap="none" lIns="0" tIns="0" rIns="0" bIns="0" rtlCol="0" anchor="t"/>
          <a:lstStyle/>
          <a:p>
            <a:pPr algn="l" indent="0" marL="0">
              <a:lnSpc>
                <a:spcPct val="104000"/>
              </a:lnSpc>
              <a:buNone/>
            </a:pPr>
            <a:r>
              <a:rPr lang="en-US" sz="1550" dirty="0">
                <a:solidFill>
                  <a:srgbClr val="2A2742"/>
                </a:solidFill>
                <a:latin typeface="Outfit ExtraBold" pitchFamily="34" charset="0"/>
                <a:ea typeface="Outfit ExtraBold" pitchFamily="34" charset="-122"/>
                <a:cs typeface="Outfit ExtraBold" pitchFamily="34" charset="-120"/>
              </a:rPr>
              <a:t>Architektura Transformer</a:t>
            </a:r>
            <a:endParaRPr lang="en-US" sz="1550" dirty="0"/>
          </a:p>
        </p:txBody>
      </p:sp>
      <p:sp>
        <p:nvSpPr>
          <p:cNvPr id="15" name="Text 9"/>
          <p:cNvSpPr/>
          <p:nvPr/>
        </p:nvSpPr>
        <p:spPr>
          <a:xfrm>
            <a:off x="6192782" y="4927600"/>
            <a:ext cx="5337438" cy="1009253"/>
          </a:xfrm>
          <a:prstGeom prst="rect">
            <a:avLst/>
          </a:prstGeom>
          <a:noFill/>
          <a:ln/>
        </p:spPr>
        <p:txBody>
          <a:bodyPr wrap="square" lIns="0" tIns="0" rIns="0" bIns="0" rtlCol="0" anchor="t">
            <a:normAutofit/>
          </a:bodyPr>
          <a:lstStyle/>
          <a:p>
            <a:pPr algn="l" indent="0" marL="0">
              <a:lnSpc>
                <a:spcPct val="131000"/>
              </a:lnSpc>
              <a:buNone/>
            </a:pPr>
            <a:r>
              <a:rPr lang="en-US" sz="1250" dirty="0">
                <a:solidFill>
                  <a:srgbClr val="2A2742"/>
                </a:solidFill>
                <a:latin typeface="Arimo" pitchFamily="34" charset="0"/>
                <a:ea typeface="Arimo" pitchFamily="34" charset="-122"/>
                <a:cs typeface="Arimo" pitchFamily="34" charset="-120"/>
              </a:rPr>
              <a:t>Rewolucyjne w NLP (przetwarzanie języka naturalnego). Analizują wszystkie elementy sekwencji jednocześnie, oceniając ich wzajemne powiązania za pomocą mechanizmu uwagi. Podstawa modeli takich jak ChatGPT i Google Translate.</a:t>
            </a:r>
            <a:endParaRPr lang="en-US" sz="1250" dirty="0"/>
          </a:p>
        </p:txBody>
      </p:sp>
      <p:sp>
        <p:nvSpPr>
          <p:cNvPr id="16" name="Text 10"/>
          <p:cNvSpPr/>
          <p:nvPr/>
        </p:nvSpPr>
        <p:spPr>
          <a:xfrm>
            <a:off x="661475" y="6111379"/>
            <a:ext cx="11478330" cy="252313"/>
          </a:xfrm>
          <a:prstGeom prst="rect">
            <a:avLst/>
          </a:prstGeom>
          <a:noFill/>
          <a:ln/>
        </p:spPr>
        <p:txBody>
          <a:bodyPr wrap="none" lIns="0" tIns="0" rIns="0" bIns="0" rtlCol="0" anchor="t"/>
          <a:lstStyle/>
          <a:p>
            <a:pPr algn="l" indent="0" marL="0">
              <a:lnSpc>
                <a:spcPct val="131000"/>
              </a:lnSpc>
              <a:buNone/>
            </a:pPr>
            <a:r>
              <a:rPr lang="en-US" sz="1250" dirty="0">
                <a:solidFill>
                  <a:srgbClr val="2A2742"/>
                </a:solidFill>
                <a:latin typeface="Arimo" pitchFamily="34" charset="0"/>
                <a:ea typeface="Arimo" pitchFamily="34" charset="-122"/>
                <a:cs typeface="Arimo" pitchFamily="34" charset="-120"/>
              </a:rPr>
              <a:t>Wniosek jest jasny: architektura sieci dobierana jest ściśle do rodzaju zadania, które ma rozwiązać.</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2026-10-20T10:07:58Z</dcterms:created>
  <dcterms:modified xsi:type="dcterms:W3CDTF">2026-10-20T10:07:58Z</dcterms:modified>
</cp:coreProperties>
</file>