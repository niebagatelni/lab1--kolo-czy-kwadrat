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Archivo Black"/>
      <p:regular r:id="rId201314"/>
    </p:embeddedFont>
    <p:embeddedFont>
      <p:font typeface="Atkinson Hyperlegible"/>
      <p:regular r:id="rId201315"/>
    </p:embeddedFont>
    <p:embeddedFont>
      <p:font typeface="Atkinson Hyperlegible Bold"/>
      <p:regular r:id="rId201316"/>
    </p:embeddedFont>
    <p:embeddedFont>
      <p:font typeface="IBM Plex Mono SemiBold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"/>
      <p:regular r:id="rId201320"/>
    </p:embeddedFont>
    <p:embeddedFont>
      <p:font typeface="Space Mono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2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12800"/>
            <a:ext cx="5333867" cy="5232400"/>
          </a:xfrm>
          <a:prstGeom prst="rect">
            <a:avLst/>
          </a:prstGeom>
          <a:solidFill>
            <a:srgbClr val="0B0E1A"/>
          </a:solidFill>
          <a:ln w="25399">
            <a:solidFill>
              <a:srgbClr val="00E5FF"/>
            </a:solidFill>
            <a:prstDash val="solid"/>
          </a:ln>
          <a:effectLst>
            <a:outerShdw sx="100000" sy="100000" kx="0" ky="0" algn="bl" rotWithShape="0" blurRad="303530" dist="127" dir="16200000">
              <a:srgbClr val="00ffc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5176" y="1646770"/>
            <a:ext cx="46226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2 CHCĘTE TREŚCI: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JAK KOMPUTER ROZPOZNAJE KOTA?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5176" y="2354643"/>
            <a:ext cx="4622684" cy="168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800" spc="-72" kern="1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SZTUCZNA </a:t>
            </a:r>
            <a:pPr algn="l" indent="0" marL="0">
              <a:lnSpc>
                <a:spcPct val="77000"/>
              </a:lnSpc>
              <a:buNone/>
            </a:pPr>
            <a:r>
              <a:rPr lang="en-US" sz="4800" spc="-72" kern="100" dirty="0">
                <a:solidFill>
                  <a:srgbClr val="00E5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SIEĆ NEURONOWA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65176" y="4158952"/>
            <a:ext cx="462268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Od liczb w obrazie do uczenia na przykładach.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5176" y="4879677"/>
            <a:ext cx="714754" cy="336649"/>
          </a:xfrm>
          <a:prstGeom prst="rect">
            <a:avLst/>
          </a:prstGeom>
          <a:noFill/>
          <a:ln w="6350">
            <a:solidFill>
              <a:srgbClr val="4A82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4653" y="4959227"/>
            <a:ext cx="10653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DANE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87877" y="4879677"/>
            <a:ext cx="714754" cy="336649"/>
          </a:xfrm>
          <a:prstGeom prst="rect">
            <a:avLst/>
          </a:prstGeom>
          <a:noFill/>
          <a:ln w="6350">
            <a:solidFill>
              <a:srgbClr val="4A8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7354" y="4959227"/>
            <a:ext cx="10653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WAGI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610578" y="4879677"/>
            <a:ext cx="1056653" cy="336649"/>
          </a:xfrm>
          <a:prstGeom prst="rect">
            <a:avLst/>
          </a:prstGeom>
          <a:noFill/>
          <a:ln w="6350">
            <a:solidFill>
              <a:srgbClr val="4A8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0056" y="4959227"/>
            <a:ext cx="14072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UCZENIE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DWA SPOSOBY PROGRAMOWANIA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82637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OD REGUŁ DO UCZENIA NA PRZYKŁADACH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330325"/>
            <a:ext cx="3454314" cy="5070475"/>
          </a:xfrm>
          <a:prstGeom prst="rect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30" y="1654175"/>
            <a:ext cx="2806630" cy="15787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030" y="3415939"/>
            <a:ext cx="31304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00E5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TRADYCYJNY KOD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1030" y="3686969"/>
            <a:ext cx="280663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Zwykły Program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1030" y="4123690"/>
            <a:ext cx="2806630" cy="1748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Programista zapisuje sztywne reguły (np. reszta z dzielenia przez 2 sprawdza parzystość). Komputer wykonuje instrukcje krok po kroku.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1330325"/>
            <a:ext cx="3454314" cy="5070475"/>
          </a:xfrm>
          <a:prstGeom prst="rect">
            <a:avLst/>
          </a:prstGeom>
          <a:noFill/>
          <a:ln w="19050">
            <a:solidFill>
              <a:srgbClr val="FF2BD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533" y="1654175"/>
            <a:ext cx="2806630" cy="15787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2533" y="3415939"/>
            <a:ext cx="31304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00E5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WYZWANIE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692533" y="3686969"/>
            <a:ext cx="280663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Rozpoznawanie Kota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92533" y="4123690"/>
            <a:ext cx="2806630" cy="1457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Różne kolory, pozy, zasłonięcia i oświetlenie. Nie da się opisać kota kompletnym zestawem ręcznych reguł.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280193" y="1330325"/>
            <a:ext cx="3454314" cy="5070475"/>
          </a:xfrm>
          <a:prstGeom prst="rect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035" y="1654175"/>
            <a:ext cx="2806630" cy="15787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04035" y="3415939"/>
            <a:ext cx="31304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00E5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NOWY PARADYGMAT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604035" y="3686969"/>
            <a:ext cx="280663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Uczenie Maszynowe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604035" y="4123690"/>
            <a:ext cx="2806630" cy="1457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Pokazujemy wiele przykładów z etykietami („kot”, „pies”). Model sam dostosowuje swoje parametry do danych.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2416"/>
            <a:ext cx="11277318" cy="35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b="1" spc="-28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CZYM JEST SZTUCZNA SIEĆ NEURONOWA?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69" y="943471"/>
            <a:ext cx="3860703" cy="5619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07842" y="961642"/>
            <a:ext cx="6726665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matematyczny, nie myślący mózg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87235" y="1595735"/>
            <a:ext cx="688759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87235" y="1851232"/>
            <a:ext cx="6167879" cy="30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Neuron Biologiczny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287235" y="2264388"/>
            <a:ext cx="6167879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Odbiera sygnały chemiczno-elektryczne i przekazuje impulsy dalej. Działa w żywym organizmie jako część tkanki nerwowej.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87235" y="3340596"/>
            <a:ext cx="726263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87235" y="3596093"/>
            <a:ext cx="6167879" cy="30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Neuron Sztuczny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287235" y="4009249"/>
            <a:ext cx="6167879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Mnoży liczby przez wagi, sumuje je i stosuje matematyczną funkcję aktywacji. Połączone neurony tworzą warstwy.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87235" y="5085457"/>
            <a:ext cx="728743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87235" y="5340954"/>
            <a:ext cx="6167879" cy="30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Optymalizacja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5287235" y="5754110"/>
            <a:ext cx="6167879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Sieć nie „myśli" jak człowiek. Mózg jest jedynie inspiracją dla struktury - w praktyce to czysta optymalizacja liczbowa.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5007842" y="3048496"/>
            <a:ext cx="6726665" cy="25400"/>
          </a:xfrm>
          <a:prstGeom prst="rect">
            <a:avLst/>
          </a:prstGeom>
          <a:solidFill>
            <a:srgbClr val="E6FB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007842" y="4793357"/>
            <a:ext cx="6726665" cy="25400"/>
          </a:xfrm>
          <a:prstGeom prst="rect">
            <a:avLst/>
          </a:prstGeom>
          <a:solidFill>
            <a:srgbClr val="E6FB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WEJŚCIE MODELU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82637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DLA SIECI NEURONOWEJ, OBRAZ TO TABLICA LICZB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330325"/>
            <a:ext cx="4328012" cy="5070475"/>
          </a:xfrm>
          <a:prstGeom prst="rect">
            <a:avLst/>
          </a:prstGeom>
          <a:solidFill>
            <a:srgbClr val="121C2E"/>
          </a:solidFill>
          <a:ln w="19050">
            <a:solidFill>
              <a:srgbClr val="E6FB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36" y="1450975"/>
            <a:ext cx="4086718" cy="4349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7836" y="6058733"/>
            <a:ext cx="42073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3" kern="100" dirty="0">
                <a:solidFill>
                  <a:srgbClr val="7DB58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Z bliska obraz składa się z pikseli.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42290" y="1567021"/>
            <a:ext cx="649221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Zdjęcie to tablica pikseli. Każdy piksel zapisujemy liczbami, na przykład trzema składowymi RGB: czerwoną, zieloną i niebieską.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42290" y="2975173"/>
            <a:ext cx="2196053" cy="336649"/>
          </a:xfrm>
          <a:prstGeom prst="rect">
            <a:avLst/>
          </a:prstGeom>
          <a:noFill/>
          <a:ln w="6350">
            <a:solidFill>
              <a:srgbClr val="4A82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1767" y="3054723"/>
            <a:ext cx="254668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OBRAZ 100×100 RGB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42290" y="3468350"/>
            <a:ext cx="6492216" cy="7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000" spc="-90" kern="100" dirty="0">
                <a:solidFill>
                  <a:srgbClr val="00E5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30 000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5242290" y="4297124"/>
            <a:ext cx="649221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wartości na wejściu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90" y="4694734"/>
            <a:ext cx="6492216" cy="3526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42290" y="5597485"/>
            <a:ext cx="649221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Tekst również zamieniamy na liczby: tokeny i wektory. Dźwięk można przedstawić jako spektrogram.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WEWNĄTRZ NEURONU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82637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NEURON LICZY SUMĘ WAŻONĄ PLUS BIAS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311275"/>
            <a:ext cx="11277318" cy="3716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867098"/>
            <a:ext cx="1127731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Wagi sterują wpływem wejść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189" y="2303820"/>
            <a:ext cx="1127731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Waga dodatnia zachowuje znak sygnału (wzmacnia go, gdy jest większa od 1), ujemna odwraca znak, zero wyłącza wejście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189" y="3062684"/>
            <a:ext cx="1127731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Bias przesuwa próg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189" y="3491309"/>
            <a:ext cx="11277318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 dodawany do sumy i zmienia moment, w którym neuron się aktywuje.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189" y="4302720"/>
            <a:ext cx="11277318" cy="647005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10" name="Text 7"/>
          <p:cNvSpPr/>
          <p:nvPr/>
        </p:nvSpPr>
        <p:spPr>
          <a:xfrm>
            <a:off x="685783" y="4488617"/>
            <a:ext cx="1104872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1C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jeszcze nie jest końcowy wynik neuronu.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OD SUMY DO SYGNAŁU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82637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FUNKCJA AKTYWACJI DAJE SIECI NIELINIOWOŚĆ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38421"/>
            <a:ext cx="1173450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aktywacji bierze sumę z neuronu i decyduje, jaki sygnał wyśle dalej.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799530"/>
            <a:ext cx="6492117" cy="37167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2285504"/>
            <a:ext cx="6222844" cy="355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5922308"/>
            <a:ext cx="649211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3" kern="100" dirty="0">
                <a:solidFill>
                  <a:srgbClr val="7DB58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ReLU zeruje wartości niedodatnie; dodatnie przepuszcza bez zmian.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06395" y="1805880"/>
            <a:ext cx="432811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Przekształcenie z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06395" y="2242602"/>
            <a:ext cx="4328111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aktywacji pobiera sumę z z neuronu i decyduje, jak silny sygnał przesłać do kolejnej warstwy.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406395" y="3589139"/>
            <a:ext cx="432811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Przykład: </a:t>
            </a:r>
            <a:pPr algn="l" indent="0" marL="0">
              <a:lnSpc>
                <a:spcPct val="96000"/>
              </a:lnSpc>
              <a:buNone/>
            </a:pPr>
            <a:r>
              <a:rPr lang="en-US" sz="2000" b="1" i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Funkcja ReLU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406395" y="4025860"/>
            <a:ext cx="432811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Wynik ujemny lub równy 0 zamienia na 0. Wynik dodatni przepuszcza bez zmian.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406395" y="5080992"/>
            <a:ext cx="432811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Rola Nieliniowości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06395" y="5517713"/>
            <a:ext cx="4328111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nieliniowości cała wielowarstwowa sieć zwinęłaby się do prostej operacji liniowej.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1118"/>
            <a:ext cx="11734506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3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PROPAGACJA W PRZÓD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56464"/>
            <a:ext cx="11277318" cy="37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PRZEPŁYW DANYCH PRZEZ WARSTWY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258629"/>
            <a:ext cx="11277318" cy="78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sieci rozpoznającej obrazy kolejne warstwy mogą łączyć proste sygnały w coraz bardziej złożone cechy.</a:t>
            </a:r>
            <a:endParaRPr lang="en-US" sz="16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Pojedynczy neuron liczy prosto. Rozpoznawanie wynika ze współpracy wielu neuronów. </a:t>
            </a:r>
            <a:endParaRPr lang="en-US" sz="16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Sieci mogą mieć miliony parametrów, a warstw bywa od kilku do kilkuset.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23" y="2193330"/>
            <a:ext cx="9994650" cy="2576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189" y="4924326"/>
            <a:ext cx="2705032" cy="1936552"/>
          </a:xfrm>
          <a:prstGeom prst="roundRect">
            <a:avLst>
              <a:gd name="adj" fmla="val 1558"/>
            </a:avLst>
          </a:prstGeom>
          <a:noFill/>
          <a:ln w="25399">
            <a:solidFill>
              <a:srgbClr val="4A54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182" y="5182244"/>
            <a:ext cx="2451039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3" kern="100" dirty="0">
                <a:solidFill>
                  <a:srgbClr val="5CC97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WARSTWA WEJŚCIOWA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1182" y="5431055"/>
            <a:ext cx="2197045" cy="27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Piksele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11182" y="5826363"/>
            <a:ext cx="2197045" cy="78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Surowe liczby wprowadzone do modelu.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14617" y="4924326"/>
            <a:ext cx="2705032" cy="1936552"/>
          </a:xfrm>
          <a:prstGeom prst="roundRect">
            <a:avLst>
              <a:gd name="adj" fmla="val 1558"/>
            </a:avLst>
          </a:prstGeom>
          <a:noFill/>
          <a:ln w="25399">
            <a:solidFill>
              <a:srgbClr val="4A54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8611" y="5182244"/>
            <a:ext cx="2451039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3" kern="100" dirty="0">
                <a:solidFill>
                  <a:srgbClr val="00E5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WARSTWY UKRYTE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68611" y="5431055"/>
            <a:ext cx="2197045" cy="27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Krawędzie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568611" y="5826363"/>
            <a:ext cx="2197045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Detekcja prostych linii i kontrastów.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046" y="4924326"/>
            <a:ext cx="2705032" cy="1936552"/>
          </a:xfrm>
          <a:prstGeom prst="roundRect">
            <a:avLst>
              <a:gd name="adj" fmla="val 1558"/>
            </a:avLst>
          </a:prstGeom>
          <a:noFill/>
          <a:ln w="25399">
            <a:solidFill>
              <a:srgbClr val="4A54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6039" y="5182244"/>
            <a:ext cx="2451039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3" kern="100" dirty="0">
                <a:solidFill>
                  <a:srgbClr val="00E5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WARSTWY UKRYTE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26039" y="5431055"/>
            <a:ext cx="2197045" cy="27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Kształty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426039" y="5826363"/>
            <a:ext cx="2197045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Łączenie linii w oczy, uszy i pyszczek.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29474" y="4924326"/>
            <a:ext cx="2705032" cy="1936552"/>
          </a:xfrm>
          <a:prstGeom prst="roundRect">
            <a:avLst>
              <a:gd name="adj" fmla="val 1558"/>
            </a:avLst>
          </a:prstGeom>
          <a:noFill/>
          <a:ln w="25399">
            <a:solidFill>
              <a:srgbClr val="4A54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3468" y="5182244"/>
            <a:ext cx="2451039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3" kern="100" dirty="0">
                <a:solidFill>
                  <a:srgbClr val="5CC97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WARSTWA WYJŚCIOWA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283468" y="5431055"/>
            <a:ext cx="2197045" cy="27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Klasyfikacja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9283468" y="5826363"/>
            <a:ext cx="2197045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Kombinacja cech wskazująca na „kota”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INTERPRETACJA WYJŚCIA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82637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WARSTWA WYJŚCIOWA: WYNIK SIECI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38421"/>
            <a:ext cx="11277318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Warstwa wyjściowa daje po jednej liczbie na klasę, na przykład 3,7; −1,2; 0,05. Nie są jeszcze prawdopodobieństwami, więc zamieniamy je na procenty, które sumują się do 100%. Przykład dla dwóch klas: kot 0,92, pies 0,08.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382341"/>
            <a:ext cx="6616534" cy="393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32598" y="2459494"/>
            <a:ext cx="4201908" cy="7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000" spc="-90" kern="100" dirty="0">
                <a:solidFill>
                  <a:srgbClr val="00E5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92%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532598" y="3203972"/>
            <a:ext cx="420190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wskazuje kota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32598" y="3632597"/>
            <a:ext cx="4201908" cy="1862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Potocznie: „sieć w 92% pewna, że to kot”. To ocena modelu, a nie gwarancja poprawności.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dwuklasowy przykład nie jest przeliczeniem trzech surowych wyników powyżej.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4A825B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DOSTRAJANIE PARAMETRÓW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82637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PEŁNY CYKL UCZENIA SIĘ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2069405"/>
            <a:ext cx="334130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170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1. DANE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2447131"/>
            <a:ext cx="334130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Otrzymuje dane z etykietami.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2337" y="1539478"/>
            <a:ext cx="3947022" cy="394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72918" y="2359323"/>
            <a:ext cx="322949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8393200" y="1311275"/>
            <a:ext cx="334130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2. PROPAGACJA W PRZÓD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93200" y="1689001"/>
            <a:ext cx="334130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Sieć otrzymała już dane wejściowe i generuje wstępne przewidywania.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337" y="1539478"/>
            <a:ext cx="3947022" cy="3947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0618" y="2130524"/>
            <a:ext cx="322949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8501147" y="2887067"/>
            <a:ext cx="323335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3. FUNKCJA STRATY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501147" y="3264793"/>
            <a:ext cx="3233359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straty określa liczbowo różnicę między przewidywaniami sieci a rzeczywistą etykietą.</a:t>
            </a:r>
            <a:endParaRPr lang="en-US" sz="1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337" y="1539478"/>
            <a:ext cx="3947022" cy="39471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95075" y="3588941"/>
            <a:ext cx="322949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1"/>
          <p:cNvSpPr/>
          <p:nvPr/>
        </p:nvSpPr>
        <p:spPr>
          <a:xfrm>
            <a:off x="8393200" y="4754265"/>
            <a:ext cx="334130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4. PROPAGACJA WSTECZNA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93200" y="5131991"/>
            <a:ext cx="334130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Błąd jest "rozprzestrzeniany" wstecz, aby obliczyć gradienty, </a:t>
            </a:r>
            <a:endParaRPr lang="en-US" sz="1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337" y="1539478"/>
            <a:ext cx="3947022" cy="39471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8887" y="4719141"/>
            <a:ext cx="322949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4</a:t>
            </a:r>
            <a:endParaRPr lang="en-US" sz="2550" dirty="0"/>
          </a:p>
        </p:txBody>
      </p:sp>
      <p:sp>
        <p:nvSpPr>
          <p:cNvPr id="20" name="Text 14"/>
          <p:cNvSpPr/>
          <p:nvPr/>
        </p:nvSpPr>
        <p:spPr>
          <a:xfrm>
            <a:off x="457189" y="4141688"/>
            <a:ext cx="334130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170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5. OPTYMALIZATOR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457189" y="4519414"/>
            <a:ext cx="334130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Wykorzystuje gradienty do korekty wag i biasów, minimalizując przyszłe błędy.</a:t>
            </a:r>
            <a:endParaRPr lang="en-US" sz="1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337" y="1539478"/>
            <a:ext cx="3947022" cy="39471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93723" y="3959225"/>
            <a:ext cx="322949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-17" kern="100" dirty="0">
                <a:solidFill>
                  <a:srgbClr val="C9D6E8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5</a:t>
            </a:r>
            <a:endParaRPr lang="en-US" sz="2550" dirty="0"/>
          </a:p>
        </p:txBody>
      </p:sp>
      <p:sp>
        <p:nvSpPr>
          <p:cNvPr id="24" name="Shape 17"/>
          <p:cNvSpPr/>
          <p:nvPr/>
        </p:nvSpPr>
        <p:spPr>
          <a:xfrm>
            <a:off x="457189" y="5892602"/>
            <a:ext cx="11277318" cy="938411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25" name="Text 18"/>
          <p:cNvSpPr/>
          <p:nvPr/>
        </p:nvSpPr>
        <p:spPr>
          <a:xfrm>
            <a:off x="736582" y="6078498"/>
            <a:ext cx="1071853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Cykl może powtarzać się miliony razy.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Sieć sama uczy się wag: po korekcie ponownie przewiduje odpowiedź i mierzy błąd.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2762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b="1" spc="-32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PRZYPISANIE ODPOWIEDZIALNOŚCI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189" y="1047750"/>
            <a:ext cx="1127731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PROPAGACJA WSTECZNA OBLICZA GRADIENTY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9" y="1715929"/>
            <a:ext cx="117345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3" kern="100" dirty="0">
                <a:solidFill>
                  <a:srgbClr val="B6FF3B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Gradienty to liczbowe określenie „udziału w winie” poszczególnych wag.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189" y="2915245"/>
            <a:ext cx="3454314" cy="2518172"/>
          </a:xfrm>
          <a:prstGeom prst="rect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30" y="3244291"/>
            <a:ext cx="31304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E6FB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ANALOGIA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1030" y="3515320"/>
            <a:ext cx="280663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Przesolona Zupa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1030" y="3952042"/>
            <a:ext cx="2806630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Kucharz cofa się od efektu do przyczyn (bulion, przyprawy, czas itp.).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8691" y="2915245"/>
            <a:ext cx="3454314" cy="2518172"/>
          </a:xfrm>
          <a:prstGeom prst="rect">
            <a:avLst/>
          </a:prstGeom>
          <a:noFill/>
          <a:ln w="19050">
            <a:solidFill>
              <a:srgbClr val="B6F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2533" y="3244291"/>
            <a:ext cx="31304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E6FB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UDZIAŁ W BŁĘDZIE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92533" y="3515320"/>
            <a:ext cx="280663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Gradienty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2533" y="3952042"/>
            <a:ext cx="2806630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Obliczenie, jak każda waga i bias przyczyniły się do pomyłki.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80193" y="2915245"/>
            <a:ext cx="3454314" cy="2518172"/>
          </a:xfrm>
          <a:prstGeom prst="rect">
            <a:avLst/>
          </a:prstGeom>
          <a:noFill/>
          <a:ln w="19050">
            <a:solidFill>
              <a:srgbClr val="FF2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035" y="3244291"/>
            <a:ext cx="31304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E6FB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WAŻNA UWAGA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04035" y="3515320"/>
            <a:ext cx="280663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6FB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Tylko Obliczenia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04035" y="3952042"/>
            <a:ext cx="2806630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Propagacja wsteczna sama nie zmienia wag - wyznacza jedynie kierunek zmian.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847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b="1" spc="-26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PROPAGACJA WSTECZNA — JAK USTALIĆ, CO POPRAWIĆ?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189" y="984250"/>
            <a:ext cx="11277318" cy="1052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350"/>
              </a:spcAft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Propagacja wsteczna to mechanizm, który pozwala sieci zrozumieć, które z jej wewnętrznych parametrów (wag i biasów) są odpowiedzialne za błąd w przewidywaniach, a następnie je skorygować.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189" y="2233116"/>
            <a:ext cx="7009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4461" y="2220416"/>
            <a:ext cx="510279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Błąd na wyjściu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4461" y="2657138"/>
            <a:ext cx="510279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propagacji w przód, sieć porównuje wynik z oczekiwaną odpowiedzią i oblicza globalny błąd.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24442" y="2233116"/>
            <a:ext cx="7441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4874" y="2220416"/>
            <a:ext cx="505963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Powrót warstwami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4874" y="2657138"/>
            <a:ext cx="5059633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Błąd jest "rozprzestrzeniany" wstecz, od warstwy wyjściowej, przez ukryte, aż do wejściowej.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189" y="3999508"/>
            <a:ext cx="7469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0498" y="3986808"/>
            <a:ext cx="5056756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Obliczenie gradientów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0498" y="4423529"/>
            <a:ext cx="505675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 każdej wagi i biasu obliczamy "udział winy", czyli gradient – jak bardzo zmiana danego parametru wpływa na błąd.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3999508"/>
            <a:ext cx="753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84200" y="3986808"/>
            <a:ext cx="5050306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Aktualizuj parametry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84200" y="4423529"/>
            <a:ext cx="505030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Wagi i biasy są korygowane w kierunku, który minimalizuje błąd, przygotowując sieć do kolejnej iteracji uczenia.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189" y="5936655"/>
            <a:ext cx="11277318" cy="938411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17" name="Text 15"/>
          <p:cNvSpPr/>
          <p:nvPr/>
        </p:nvSpPr>
        <p:spPr>
          <a:xfrm>
            <a:off x="736582" y="6122551"/>
            <a:ext cx="1071853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Propagacja wsteczna pozwala sieci neuronowej na ciągłe samodoskonalenie, ucząc się coraz bardziej złożonych wzorców z danych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9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E6FB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OCENA JAKOŚCI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68350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b="1" spc="-26" kern="100" dirty="0">
                <a:solidFill>
                  <a:srgbClr val="E6FB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CZY SIEĆ NAPRAWDĘ SIĘ NAUCZYŁA?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89" y="2710954"/>
            <a:ext cx="3555911" cy="2036266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944749"/>
            <a:ext cx="3327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FAA1A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BŁĄD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783" y="3215779"/>
            <a:ext cx="309872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Overfitting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783" y="3652500"/>
            <a:ext cx="3098722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Wykucie danych na pamięć. Słabe wyniki na nowych przykładach.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7892" y="2710954"/>
            <a:ext cx="3555911" cy="2036266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944749"/>
            <a:ext cx="3327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FAA1A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BŁĄD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46486" y="3215779"/>
            <a:ext cx="309872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Underfitting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46486" y="3652500"/>
            <a:ext cx="3098722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Zbyt prosta sieć lub za krótki trening. Brak zrozumienia danych.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78595" y="2710954"/>
            <a:ext cx="3555911" cy="2036266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07190" y="2944749"/>
            <a:ext cx="3327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100" dirty="0">
                <a:solidFill>
                  <a:srgbClr val="A3E63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07190" y="3215779"/>
            <a:ext cx="309872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Generalizacja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07190" y="3652500"/>
            <a:ext cx="309872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Poprawne rozpoznawanie zupełnie nowych obiektów.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2026-10-20T10:03:38Z</dcterms:created>
  <dcterms:modified xsi:type="dcterms:W3CDTF">2026-10-20T10:03:38Z</dcterms:modified>
</cp:coreProperties>
</file>